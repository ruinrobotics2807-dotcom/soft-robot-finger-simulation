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3.png"/><Relationship Id="rId4" Type="http://schemas.openxmlformats.org/officeDocument/2006/relationships/image" Target="../media/image-2-4.svg"/><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png"/><Relationship Id="rId8" Type="http://schemas.openxmlformats.org/officeDocument/2006/relationships/image" Target="../media/image-2-8.sv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jpeg"/><Relationship Id="rId9" Type="http://schemas.openxmlformats.org/officeDocument/2006/relationships/image" Target="../media/image-8-9.jpeg"/><Relationship Id="rId10" Type="http://schemas.openxmlformats.org/officeDocument/2006/relationships/slideLayout" Target="../slideLayouts/slideLayout2.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1.png"/><Relationship Id="rId4" Type="http://schemas.openxmlformats.org/officeDocument/2006/relationships/image" Target="../media/image-9-2.svg"/><Relationship Id="rId5" Type="http://schemas.openxmlformats.org/officeDocument/2006/relationships/image" Target="../media/image-9-1.png"/><Relationship Id="rId6" Type="http://schemas.openxmlformats.org/officeDocument/2006/relationships/image" Target="../media/image-9-2.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99703"/>
            <a:ext cx="1287331" cy="1936353"/>
          </a:xfrm>
          <a:prstGeom prst="rect">
            <a:avLst/>
          </a:prstGeom>
        </p:spPr>
      </p:pic>
      <p:sp>
        <p:nvSpPr>
          <p:cNvPr id="3" name="Text 0"/>
          <p:cNvSpPr/>
          <p:nvPr/>
        </p:nvSpPr>
        <p:spPr>
          <a:xfrm>
            <a:off x="2358569" y="778966"/>
            <a:ext cx="9177902" cy="516731"/>
          </a:xfrm>
          <a:prstGeom prst="rect">
            <a:avLst/>
          </a:prstGeom>
          <a:noFill/>
          <a:ln/>
        </p:spPr>
        <p:txBody>
          <a:bodyPr wrap="none" lIns="0" tIns="0" rIns="0" bIns="0" rtlCol="0" anchor="t"/>
          <a:lstStyle/>
          <a:p>
            <a:pPr algn="l" indent="0" marL="0">
              <a:lnSpc>
                <a:spcPct val="104000"/>
              </a:lnSpc>
              <a:buNone/>
            </a:pPr>
            <a:r>
              <a:rPr lang="en-US" sz="3250" dirty="0">
                <a:solidFill>
                  <a:srgbClr val="312F2B"/>
                </a:solidFill>
                <a:latin typeface="Inter" pitchFamily="34" charset="0"/>
                <a:ea typeface="Inter" pitchFamily="34" charset="-122"/>
                <a:cs typeface="Inter" pitchFamily="34" charset="-120"/>
              </a:rPr>
              <a:t>Cable-Driven Soft Robotic Finger Simulation</a:t>
            </a:r>
            <a:endParaRPr lang="en-US" sz="3250" dirty="0"/>
          </a:p>
        </p:txBody>
      </p:sp>
      <p:sp>
        <p:nvSpPr>
          <p:cNvPr id="4" name="Text 1"/>
          <p:cNvSpPr/>
          <p:nvPr/>
        </p:nvSpPr>
        <p:spPr>
          <a:xfrm>
            <a:off x="661475" y="3170138"/>
            <a:ext cx="10868745" cy="258465"/>
          </a:xfrm>
          <a:prstGeom prst="rect">
            <a:avLst/>
          </a:prstGeom>
          <a:noFill/>
          <a:ln/>
        </p:spPr>
        <p:txBody>
          <a:bodyPr wrap="none" lIns="0" tIns="0" rIns="0" bIns="0" rtlCol="0" anchor="t"/>
          <a:lstStyle/>
          <a:p>
            <a:pPr algn="ctr" indent="0" marL="0">
              <a:lnSpc>
                <a:spcPct val="104000"/>
              </a:lnSpc>
              <a:buNone/>
            </a:pPr>
            <a:r>
              <a:rPr lang="en-US" sz="1600" dirty="0">
                <a:solidFill>
                  <a:srgbClr val="312F2B"/>
                </a:solidFill>
                <a:latin typeface="Inter" pitchFamily="34" charset="0"/>
                <a:ea typeface="Inter" pitchFamily="34" charset="-122"/>
                <a:cs typeface="Inter" pitchFamily="34" charset="-120"/>
              </a:rPr>
              <a:t>Khảo sát ảnh hưởng của tham số cơ học vật liệu trên SOFA Framework</a:t>
            </a:r>
            <a:endParaRPr lang="en-US" sz="1600" dirty="0"/>
          </a:p>
        </p:txBody>
      </p:sp>
      <p:sp>
        <p:nvSpPr>
          <p:cNvPr id="5" name="Text 2"/>
          <p:cNvSpPr/>
          <p:nvPr/>
        </p:nvSpPr>
        <p:spPr>
          <a:xfrm>
            <a:off x="356682" y="3676650"/>
            <a:ext cx="11478330" cy="264616"/>
          </a:xfrm>
          <a:prstGeom prst="rect">
            <a:avLst/>
          </a:prstGeom>
          <a:noFill/>
          <a:ln/>
        </p:spPr>
        <p:txBody>
          <a:bodyPr wrap="none" lIns="0" tIns="0" rIns="0" bIns="0" rtlCol="0" anchor="t"/>
          <a:lstStyle/>
          <a:p>
            <a:pPr algn="ctr" indent="0" marL="0">
              <a:lnSpc>
                <a:spcPct val="133000"/>
              </a:lnSpc>
              <a:buNone/>
            </a:pPr>
            <a:r>
              <a:rPr lang="en-US" sz="1300" dirty="0">
                <a:solidFill>
                  <a:srgbClr val="272525"/>
                </a:solidFill>
                <a:latin typeface="Inter" pitchFamily="34" charset="0"/>
                <a:ea typeface="Inter" pitchFamily="34" charset="-122"/>
                <a:cs typeface="Inter" pitchFamily="34" charset="-120"/>
              </a:rPr>
              <a:t>Báo cáo Bài tập lớn — Nhập môn Mô phỏng Soft Robotics</a:t>
            </a:r>
            <a:endParaRPr lang="en-US" sz="1300" dirty="0"/>
          </a:p>
        </p:txBody>
      </p:sp>
      <p:sp>
        <p:nvSpPr>
          <p:cNvPr id="6" name="Shape 3"/>
          <p:cNvSpPr/>
          <p:nvPr/>
        </p:nvSpPr>
        <p:spPr>
          <a:xfrm>
            <a:off x="661475" y="4168577"/>
            <a:ext cx="10868745" cy="19050"/>
          </a:xfrm>
          <a:prstGeom prst="roundRect">
            <a:avLst>
              <a:gd name="adj" fmla="val 49999"/>
            </a:avLst>
          </a:prstGeom>
          <a:solidFill>
            <a:srgbClr val="272525">
              <a:alpha val="50000"/>
            </a:srgbClr>
          </a:solidFill>
          <a:ln/>
        </p:spPr>
      </p:sp>
      <p:sp>
        <p:nvSpPr>
          <p:cNvPr id="7" name="Shape 4"/>
          <p:cNvSpPr/>
          <p:nvPr/>
        </p:nvSpPr>
        <p:spPr>
          <a:xfrm>
            <a:off x="542415" y="4414937"/>
            <a:ext cx="5132557" cy="1829395"/>
          </a:xfrm>
          <a:prstGeom prst="roundRect">
            <a:avLst>
              <a:gd name="adj" fmla="val 6509"/>
            </a:avLst>
          </a:prstGeom>
          <a:solidFill>
            <a:srgbClr val="E5E5E0">
              <a:alpha val="95000"/>
            </a:srgbClr>
          </a:solidFill>
          <a:ln/>
        </p:spPr>
      </p:sp>
      <p:sp>
        <p:nvSpPr>
          <p:cNvPr id="8" name="Text 5"/>
          <p:cNvSpPr/>
          <p:nvPr/>
        </p:nvSpPr>
        <p:spPr>
          <a:xfrm>
            <a:off x="707710" y="4580235"/>
            <a:ext cx="4801968"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Thông tin sinh viên</a:t>
            </a:r>
            <a:endParaRPr lang="en-US" sz="1600" dirty="0"/>
          </a:p>
        </p:txBody>
      </p:sp>
      <p:sp>
        <p:nvSpPr>
          <p:cNvPr id="9" name="Text 6"/>
          <p:cNvSpPr/>
          <p:nvPr/>
        </p:nvSpPr>
        <p:spPr>
          <a:xfrm>
            <a:off x="707710" y="5003998"/>
            <a:ext cx="4801968" cy="1091505"/>
          </a:xfrm>
          <a:prstGeom prst="rect">
            <a:avLst/>
          </a:prstGeom>
          <a:noFill/>
          <a:ln/>
        </p:spPr>
        <p:txBody>
          <a:bodyPr wrap="square" lIns="0" tIns="0" rIns="0" bIns="0" rtlCol="0" anchor="t"/>
          <a:lstStyle/>
          <a:p>
            <a:pPr algn="l" indent="0" marL="0">
              <a:lnSpc>
                <a:spcPct val="133000"/>
              </a:lnSpc>
              <a:spcAft>
                <a:spcPts val="1150"/>
              </a:spcAft>
              <a:buNone/>
            </a:pPr>
            <a:r>
              <a:rPr lang="en-US" sz="1300" b="1" dirty="0">
                <a:solidFill>
                  <a:srgbClr val="272525"/>
                </a:solidFill>
                <a:latin typeface="Inter Bold" pitchFamily="34" charset="0"/>
                <a:ea typeface="Inter Bold" pitchFamily="34" charset="-122"/>
                <a:cs typeface="Inter Bold" pitchFamily="34" charset="-120"/>
              </a:rPr>
              <a:t>Họ và tên:</a:t>
            </a:r>
            <a:pPr algn="l" indent="0" marL="0">
              <a:lnSpc>
                <a:spcPct val="133000"/>
              </a:lnSpc>
              <a:spcAft>
                <a:spcPts val="1150"/>
              </a:spcAft>
              <a:buNone/>
            </a:pPr>
            <a:r>
              <a:rPr lang="en-US" sz="1300" dirty="0">
                <a:solidFill>
                  <a:srgbClr val="272525"/>
                </a:solidFill>
                <a:latin typeface="Inter" pitchFamily="34" charset="0"/>
                <a:ea typeface="Inter" pitchFamily="34" charset="-122"/>
                <a:cs typeface="Inter" pitchFamily="34" charset="-120"/>
              </a:rPr>
              <a:t> Nguyễn Khương Duy</a:t>
            </a:r>
            <a:endParaRPr lang="en-US" sz="1300" dirty="0"/>
          </a:p>
          <a:p>
            <a:pPr algn="l" indent="0" marL="0">
              <a:lnSpc>
                <a:spcPct val="133000"/>
              </a:lnSpc>
              <a:spcAft>
                <a:spcPts val="1150"/>
              </a:spcAft>
              <a:buNone/>
            </a:pPr>
            <a:r>
              <a:rPr lang="en-US" sz="1300" b="1" dirty="0">
                <a:solidFill>
                  <a:srgbClr val="272525"/>
                </a:solidFill>
                <a:latin typeface="Inter Bold" pitchFamily="34" charset="0"/>
                <a:ea typeface="Inter Bold" pitchFamily="34" charset="-122"/>
                <a:cs typeface="Inter Bold" pitchFamily="34" charset="-120"/>
              </a:rPr>
              <a:t>Mã số sinh viên:</a:t>
            </a:r>
            <a:pPr algn="l" indent="0" marL="0">
              <a:lnSpc>
                <a:spcPct val="133000"/>
              </a:lnSpc>
              <a:spcAft>
                <a:spcPts val="1150"/>
              </a:spcAft>
              <a:buNone/>
            </a:pPr>
            <a:r>
              <a:rPr lang="en-US" sz="1300" dirty="0">
                <a:solidFill>
                  <a:srgbClr val="272525"/>
                </a:solidFill>
                <a:latin typeface="Inter" pitchFamily="34" charset="0"/>
                <a:ea typeface="Inter" pitchFamily="34" charset="-122"/>
                <a:cs typeface="Inter" pitchFamily="34" charset="-120"/>
              </a:rPr>
              <a:t> 202418447</a:t>
            </a:r>
            <a:endParaRPr lang="en-US" sz="1300" dirty="0"/>
          </a:p>
          <a:p>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Lớp / Khóa:</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ME-E1 04 k69</a:t>
            </a:r>
            <a:endParaRPr lang="en-US" sz="1300" dirty="0"/>
          </a:p>
        </p:txBody>
      </p:sp>
      <p:sp>
        <p:nvSpPr>
          <p:cNvPr id="10" name="Shape 7"/>
          <p:cNvSpPr/>
          <p:nvPr/>
        </p:nvSpPr>
        <p:spPr>
          <a:xfrm>
            <a:off x="5846616" y="4414937"/>
            <a:ext cx="5808914" cy="1829395"/>
          </a:xfrm>
          <a:prstGeom prst="roundRect">
            <a:avLst>
              <a:gd name="adj" fmla="val 6509"/>
            </a:avLst>
          </a:prstGeom>
          <a:solidFill>
            <a:srgbClr val="E5E5E0">
              <a:alpha val="95000"/>
            </a:srgbClr>
          </a:solidFill>
          <a:ln/>
        </p:spPr>
      </p:sp>
      <p:sp>
        <p:nvSpPr>
          <p:cNvPr id="11" name="Text 8"/>
          <p:cNvSpPr/>
          <p:nvPr/>
        </p:nvSpPr>
        <p:spPr>
          <a:xfrm>
            <a:off x="6011911" y="4580235"/>
            <a:ext cx="5478325"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Thông tin học phần</a:t>
            </a:r>
            <a:endParaRPr lang="en-US" sz="1600" dirty="0"/>
          </a:p>
        </p:txBody>
      </p:sp>
      <p:sp>
        <p:nvSpPr>
          <p:cNvPr id="12" name="Text 9"/>
          <p:cNvSpPr/>
          <p:nvPr/>
        </p:nvSpPr>
        <p:spPr>
          <a:xfrm>
            <a:off x="6011911" y="5003998"/>
            <a:ext cx="5478325" cy="1091505"/>
          </a:xfrm>
          <a:prstGeom prst="rect">
            <a:avLst/>
          </a:prstGeom>
          <a:noFill/>
          <a:ln/>
        </p:spPr>
        <p:txBody>
          <a:bodyPr wrap="square" lIns="0" tIns="0" rIns="0" bIns="0" rtlCol="0" anchor="t"/>
          <a:lstStyle/>
          <a:p>
            <a:pPr algn="l" indent="0" marL="0">
              <a:lnSpc>
                <a:spcPct val="133000"/>
              </a:lnSpc>
              <a:spcAft>
                <a:spcPts val="1150"/>
              </a:spcAft>
              <a:buNone/>
            </a:pPr>
            <a:r>
              <a:rPr lang="en-US" sz="1300" b="1" dirty="0">
                <a:solidFill>
                  <a:srgbClr val="272525"/>
                </a:solidFill>
                <a:latin typeface="Inter Bold" pitchFamily="34" charset="0"/>
                <a:ea typeface="Inter Bold" pitchFamily="34" charset="-122"/>
                <a:cs typeface="Inter Bold" pitchFamily="34" charset="-120"/>
              </a:rPr>
              <a:t>Giảng viên hướng dẫn:</a:t>
            </a:r>
            <a:pPr algn="l" indent="0" marL="0">
              <a:lnSpc>
                <a:spcPct val="133000"/>
              </a:lnSpc>
              <a:spcAft>
                <a:spcPts val="1150"/>
              </a:spcAft>
              <a:buNone/>
            </a:pPr>
            <a:r>
              <a:rPr lang="en-US" sz="1300" dirty="0">
                <a:solidFill>
                  <a:srgbClr val="272525"/>
                </a:solidFill>
                <a:latin typeface="Inter" pitchFamily="34" charset="0"/>
                <a:ea typeface="Inter" pitchFamily="34" charset="-122"/>
                <a:cs typeface="Inter" pitchFamily="34" charset="-120"/>
              </a:rPr>
              <a:t> Thầy Trương Quốc Chiến</a:t>
            </a:r>
            <a:endParaRPr lang="en-US" sz="1300" dirty="0"/>
          </a:p>
          <a:p>
            <a:pPr algn="l" indent="0" marL="0">
              <a:lnSpc>
                <a:spcPct val="133000"/>
              </a:lnSpc>
              <a:spcAft>
                <a:spcPts val="1150"/>
              </a:spcAft>
              <a:buNone/>
            </a:pPr>
            <a:r>
              <a:rPr lang="en-US" sz="1300" b="1" dirty="0">
                <a:solidFill>
                  <a:srgbClr val="272525"/>
                </a:solidFill>
                <a:latin typeface="Inter Bold" pitchFamily="34" charset="0"/>
                <a:ea typeface="Inter Bold" pitchFamily="34" charset="-122"/>
                <a:cs typeface="Inter Bold" pitchFamily="34" charset="-120"/>
              </a:rPr>
              <a:t>Nền tảng:</a:t>
            </a:r>
            <a:pPr algn="l" indent="0" marL="0">
              <a:lnSpc>
                <a:spcPct val="133000"/>
              </a:lnSpc>
              <a:spcAft>
                <a:spcPts val="1150"/>
              </a:spcAft>
              <a:buNone/>
            </a:pPr>
            <a:r>
              <a:rPr lang="en-US" sz="1300" dirty="0">
                <a:solidFill>
                  <a:srgbClr val="272525"/>
                </a:solidFill>
                <a:latin typeface="Inter" pitchFamily="34" charset="0"/>
                <a:ea typeface="Inter" pitchFamily="34" charset="-122"/>
                <a:cs typeface="Inter" pitchFamily="34" charset="-120"/>
              </a:rPr>
              <a:t> SOFA Framework v26.06+</a:t>
            </a:r>
            <a:endParaRPr lang="en-US" sz="1300" dirty="0"/>
          </a:p>
          <a:p>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Thời lượng báo cáo:</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7–10 phút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61475" y="638572"/>
            <a:ext cx="857923" cy="238820"/>
          </a:xfrm>
          <a:prstGeom prst="roundRect">
            <a:avLst>
              <a:gd name="adj" fmla="val 22106"/>
            </a:avLst>
          </a:prstGeom>
          <a:solidFill>
            <a:srgbClr val="E8E8E3"/>
          </a:solidFill>
          <a:ln/>
        </p:spPr>
      </p:sp>
      <p:sp>
        <p:nvSpPr>
          <p:cNvPr id="3" name="Text 1"/>
          <p:cNvSpPr/>
          <p:nvPr/>
        </p:nvSpPr>
        <p:spPr>
          <a:xfrm>
            <a:off x="755730" y="685701"/>
            <a:ext cx="1278997" cy="144562"/>
          </a:xfrm>
          <a:prstGeom prst="rect">
            <a:avLst/>
          </a:prstGeom>
          <a:noFill/>
          <a:ln/>
        </p:spPr>
        <p:txBody>
          <a:bodyPr wrap="none" lIns="0" tIns="0" rIns="0" bIns="0" rtlCol="0" anchor="t"/>
          <a:lstStyle/>
          <a:p>
            <a:pPr algn="l" indent="0" marL="0">
              <a:lnSpc>
                <a:spcPct val="96000"/>
              </a:lnSpc>
              <a:buNone/>
            </a:pPr>
            <a:r>
              <a:rPr lang="en-US" sz="950" dirty="0">
                <a:solidFill>
                  <a:srgbClr val="272525"/>
                </a:solidFill>
                <a:latin typeface="Inter" pitchFamily="34" charset="0"/>
                <a:ea typeface="Inter" pitchFamily="34" charset="-122"/>
                <a:cs typeface="Inter" pitchFamily="34" charset="-120"/>
              </a:rPr>
              <a:t>GIỚI THIỆU</a:t>
            </a:r>
            <a:endParaRPr lang="en-US" sz="950" dirty="0"/>
          </a:p>
        </p:txBody>
      </p:sp>
      <p:sp>
        <p:nvSpPr>
          <p:cNvPr id="4" name="Text 2"/>
          <p:cNvSpPr/>
          <p:nvPr/>
        </p:nvSpPr>
        <p:spPr>
          <a:xfrm>
            <a:off x="661475" y="937022"/>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312F2B"/>
                </a:solidFill>
                <a:latin typeface="Inter" pitchFamily="34" charset="0"/>
                <a:ea typeface="Inter" pitchFamily="34" charset="-122"/>
                <a:cs typeface="Inter" pitchFamily="34" charset="-120"/>
              </a:rPr>
              <a:t>Giới thiệu phần mềm (Software Stack)</a:t>
            </a:r>
            <a:endParaRPr lang="en-US" sz="3050" dirty="0"/>
          </a:p>
        </p:txBody>
      </p:sp>
      <p:sp>
        <p:nvSpPr>
          <p:cNvPr id="5" name="Text 3"/>
          <p:cNvSpPr/>
          <p:nvPr/>
        </p:nvSpPr>
        <p:spPr>
          <a:xfrm>
            <a:off x="661475" y="1651794"/>
            <a:ext cx="10868745"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Hệ thống phần mềm được lựa chọn để đảm bảo tính toàn vẹn vật lý, khả năng tự động hóa cao và trực quan hóa kết quả chuyên sâu cho bài toán Soft Robotics.</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10011"/>
            <a:ext cx="5359762" cy="1757462"/>
          </a:xfrm>
          <a:prstGeom prst="rect">
            <a:avLst/>
          </a:prstGeom>
        </p:spPr>
      </p:pic>
      <p:sp>
        <p:nvSpPr>
          <p:cNvPr id="7" name="Text 4"/>
          <p:cNvSpPr/>
          <p:nvPr/>
        </p:nvSpPr>
        <p:spPr>
          <a:xfrm>
            <a:off x="913782" y="2486124"/>
            <a:ext cx="4931346" cy="245170"/>
          </a:xfrm>
          <a:prstGeom prst="rect">
            <a:avLst/>
          </a:prstGeom>
          <a:noFill/>
          <a:ln/>
        </p:spPr>
        <p:txBody>
          <a:bodyPr wrap="none" lIns="0" tIns="0" rIns="0" bIns="0" rtlCol="0" anchor="t"/>
          <a:lstStyle/>
          <a:p>
            <a:pPr algn="l" indent="0" marL="0">
              <a:lnSpc>
                <a:spcPct val="130000"/>
              </a:lnSpc>
              <a:buNone/>
            </a:pPr>
            <a:r>
              <a:rPr lang="en-US" sz="1200" b="1" dirty="0">
                <a:solidFill>
                  <a:srgbClr val="5E98F1"/>
                </a:solidFill>
                <a:latin typeface="Inter Bold" pitchFamily="34" charset="0"/>
                <a:ea typeface="Inter Bold" pitchFamily="34" charset="-122"/>
                <a:cs typeface="Inter Bold" pitchFamily="34" charset="-120"/>
              </a:rPr>
              <a:t>CORE ENGINE</a:t>
            </a:r>
            <a:endParaRPr lang="en-US" sz="1200" dirty="0"/>
          </a:p>
        </p:txBody>
      </p:sp>
      <p:sp>
        <p:nvSpPr>
          <p:cNvPr id="8" name="Text 5"/>
          <p:cNvSpPr/>
          <p:nvPr/>
        </p:nvSpPr>
        <p:spPr>
          <a:xfrm>
            <a:off x="913782" y="2820789"/>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SOFA Framework (v26.06+)</a:t>
            </a:r>
            <a:endParaRPr lang="en-US" sz="1500" dirty="0"/>
          </a:p>
        </p:txBody>
      </p:sp>
      <p:sp>
        <p:nvSpPr>
          <p:cNvPr id="9" name="Text 6"/>
          <p:cNvSpPr/>
          <p:nvPr/>
        </p:nvSpPr>
        <p:spPr>
          <a:xfrm>
            <a:off x="913782" y="3155851"/>
            <a:ext cx="4931346"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Nền tảng mô phỏng vật lý đa trường thời gian thực dành cho Soft Robotics. Hỗ trợ FEM, Constraint-based dynamics và Scene Graph linh hoạt. Đây là lõi tính toán trung tâm của toàn bộ dự án.</a:t>
            </a:r>
            <a:endParaRPr lang="en-US" sz="12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0458" y="2310011"/>
            <a:ext cx="5359762" cy="1757462"/>
          </a:xfrm>
          <a:prstGeom prst="rect">
            <a:avLst/>
          </a:prstGeom>
        </p:spPr>
      </p:pic>
      <p:sp>
        <p:nvSpPr>
          <p:cNvPr id="11" name="Text 7"/>
          <p:cNvSpPr/>
          <p:nvPr/>
        </p:nvSpPr>
        <p:spPr>
          <a:xfrm>
            <a:off x="6422765" y="2486124"/>
            <a:ext cx="4931346" cy="245170"/>
          </a:xfrm>
          <a:prstGeom prst="rect">
            <a:avLst/>
          </a:prstGeom>
          <a:noFill/>
          <a:ln/>
        </p:spPr>
        <p:txBody>
          <a:bodyPr wrap="none" lIns="0" tIns="0" rIns="0" bIns="0" rtlCol="0" anchor="t"/>
          <a:lstStyle/>
          <a:p>
            <a:pPr algn="l" indent="0" marL="0">
              <a:lnSpc>
                <a:spcPct val="130000"/>
              </a:lnSpc>
              <a:buNone/>
            </a:pPr>
            <a:r>
              <a:rPr lang="en-US" sz="1200" b="1" dirty="0">
                <a:solidFill>
                  <a:srgbClr val="B05EF1"/>
                </a:solidFill>
                <a:latin typeface="Inter Bold" pitchFamily="34" charset="0"/>
                <a:ea typeface="Inter Bold" pitchFamily="34" charset="-122"/>
                <a:cs typeface="Inter Bold" pitchFamily="34" charset="-120"/>
              </a:rPr>
              <a:t>ACTUATION EXTENSION</a:t>
            </a:r>
            <a:endParaRPr lang="en-US" sz="1200" dirty="0"/>
          </a:p>
        </p:txBody>
      </p:sp>
      <p:sp>
        <p:nvSpPr>
          <p:cNvPr id="12" name="Text 8"/>
          <p:cNvSpPr/>
          <p:nvPr/>
        </p:nvSpPr>
        <p:spPr>
          <a:xfrm>
            <a:off x="6422765" y="2820789"/>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SoftRobots Plugin</a:t>
            </a:r>
            <a:endParaRPr lang="en-US" sz="1500" dirty="0"/>
          </a:p>
        </p:txBody>
      </p:sp>
      <p:sp>
        <p:nvSpPr>
          <p:cNvPr id="13" name="Text 9"/>
          <p:cNvSpPr/>
          <p:nvPr/>
        </p:nvSpPr>
        <p:spPr>
          <a:xfrm>
            <a:off x="6422765" y="3155851"/>
            <a:ext cx="4931346"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Plugin mở rộng cung cấp bộ truyền động mềm chuyên biệt: </a:t>
            </a:r>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CableConstraint</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(điều khiển dây cáp) và </a:t>
            </a:r>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PneumaticConstraint</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(khí nén). Cho phép mô phỏng cơ chế kéo lệch tâm sát thực tế.</a:t>
            </a:r>
            <a:endParaRPr lang="en-US" sz="12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216698"/>
            <a:ext cx="5359762" cy="2002631"/>
          </a:xfrm>
          <a:prstGeom prst="rect">
            <a:avLst/>
          </a:prstGeom>
        </p:spPr>
      </p:pic>
      <p:sp>
        <p:nvSpPr>
          <p:cNvPr id="15" name="Text 10"/>
          <p:cNvSpPr/>
          <p:nvPr/>
        </p:nvSpPr>
        <p:spPr>
          <a:xfrm>
            <a:off x="913782" y="4392811"/>
            <a:ext cx="4931346" cy="245170"/>
          </a:xfrm>
          <a:prstGeom prst="rect">
            <a:avLst/>
          </a:prstGeom>
          <a:noFill/>
          <a:ln/>
        </p:spPr>
        <p:txBody>
          <a:bodyPr wrap="none" lIns="0" tIns="0" rIns="0" bIns="0" rtlCol="0" anchor="t"/>
          <a:lstStyle/>
          <a:p>
            <a:pPr algn="l" indent="0" marL="0">
              <a:lnSpc>
                <a:spcPct val="130000"/>
              </a:lnSpc>
              <a:buNone/>
            </a:pPr>
            <a:r>
              <a:rPr lang="en-US" sz="1200" b="1" dirty="0">
                <a:solidFill>
                  <a:srgbClr val="5CC97B"/>
                </a:solidFill>
                <a:latin typeface="Inter Bold" pitchFamily="34" charset="0"/>
                <a:ea typeface="Inter Bold" pitchFamily="34" charset="-122"/>
                <a:cs typeface="Inter Bold" pitchFamily="34" charset="-120"/>
              </a:rPr>
              <a:t>AUTOMATION &amp; API</a:t>
            </a:r>
            <a:endParaRPr lang="en-US" sz="1200" dirty="0"/>
          </a:p>
        </p:txBody>
      </p:sp>
      <p:sp>
        <p:nvSpPr>
          <p:cNvPr id="16" name="Text 11"/>
          <p:cNvSpPr/>
          <p:nvPr/>
        </p:nvSpPr>
        <p:spPr>
          <a:xfrm>
            <a:off x="913782" y="4727476"/>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SofaPython3</a:t>
            </a:r>
            <a:endParaRPr lang="en-US" sz="1500" dirty="0"/>
          </a:p>
        </p:txBody>
      </p:sp>
      <p:sp>
        <p:nvSpPr>
          <p:cNvPr id="17" name="Text 12"/>
          <p:cNvSpPr/>
          <p:nvPr/>
        </p:nvSpPr>
        <p:spPr>
          <a:xfrm>
            <a:off x="913782" y="5062537"/>
            <a:ext cx="4931346" cy="980678"/>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Giao diện Python kết nối trực tiếp với SOFA runtime, điều khiển Scene Graph và tự động hóa vòng lặp mô phỏng. Cho phép viết kịch bản khảo sát tham số hoàn toàn tự động không cần can thiệp thủ công.</a:t>
            </a:r>
            <a:endParaRPr lang="en-US" sz="1200" dirty="0"/>
          </a:p>
        </p:txBody>
      </p:sp>
      <p:pic>
        <p:nvPicPr>
          <p:cNvPr id="1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0458" y="4216698"/>
            <a:ext cx="5359762" cy="2002631"/>
          </a:xfrm>
          <a:prstGeom prst="rect">
            <a:avLst/>
          </a:prstGeom>
        </p:spPr>
      </p:pic>
      <p:sp>
        <p:nvSpPr>
          <p:cNvPr id="19" name="Text 13"/>
          <p:cNvSpPr/>
          <p:nvPr/>
        </p:nvSpPr>
        <p:spPr>
          <a:xfrm>
            <a:off x="6422765" y="4392811"/>
            <a:ext cx="4931346" cy="245170"/>
          </a:xfrm>
          <a:prstGeom prst="rect">
            <a:avLst/>
          </a:prstGeom>
          <a:noFill/>
          <a:ln/>
        </p:spPr>
        <p:txBody>
          <a:bodyPr wrap="none" lIns="0" tIns="0" rIns="0" bIns="0" rtlCol="0" anchor="t"/>
          <a:lstStyle/>
          <a:p>
            <a:pPr algn="l" indent="0" marL="0">
              <a:lnSpc>
                <a:spcPct val="130000"/>
              </a:lnSpc>
              <a:buNone/>
            </a:pPr>
            <a:r>
              <a:rPr lang="en-US" sz="1200" b="1" dirty="0">
                <a:solidFill>
                  <a:srgbClr val="FFA44F"/>
                </a:solidFill>
                <a:latin typeface="Inter Bold" pitchFamily="34" charset="0"/>
                <a:ea typeface="Inter Bold" pitchFamily="34" charset="-122"/>
                <a:cs typeface="Inter Bold" pitchFamily="34" charset="-120"/>
              </a:rPr>
              <a:t>VISUALIZATION &amp; FEM</a:t>
            </a:r>
            <a:endParaRPr lang="en-US" sz="1200" dirty="0"/>
          </a:p>
        </p:txBody>
      </p:sp>
      <p:sp>
        <p:nvSpPr>
          <p:cNvPr id="20" name="Text 14"/>
          <p:cNvSpPr/>
          <p:nvPr/>
        </p:nvSpPr>
        <p:spPr>
          <a:xfrm>
            <a:off x="6422765" y="4727476"/>
            <a:ext cx="4931346"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ParaView (v6.2.0)</a:t>
            </a:r>
            <a:endParaRPr lang="en-US" sz="1500" dirty="0"/>
          </a:p>
        </p:txBody>
      </p:sp>
      <p:sp>
        <p:nvSpPr>
          <p:cNvPr id="21" name="Text 15"/>
          <p:cNvSpPr/>
          <p:nvPr/>
        </p:nvSpPr>
        <p:spPr>
          <a:xfrm>
            <a:off x="6422765" y="5062537"/>
            <a:ext cx="4931346" cy="73550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Công cụ trực quan hóa dữ liệu lưới phần tử hữu hạn 3D định dạng </a:t>
            </a:r>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.vtu</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Phân tích trường chuyển vị, ứng suất và quan sát chuyển động uốn cong toàn thể theo thời gian.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512167"/>
            <a:ext cx="817939" cy="251420"/>
          </a:xfrm>
          <a:prstGeom prst="roundRect">
            <a:avLst>
              <a:gd name="adj" fmla="val 22103"/>
            </a:avLst>
          </a:prstGeom>
          <a:solidFill>
            <a:srgbClr val="E8E8E3"/>
          </a:solidFill>
          <a:ln/>
        </p:spPr>
      </p:sp>
      <p:sp>
        <p:nvSpPr>
          <p:cNvPr id="3" name="Text 1"/>
          <p:cNvSpPr/>
          <p:nvPr/>
        </p:nvSpPr>
        <p:spPr>
          <a:xfrm>
            <a:off x="760691" y="561777"/>
            <a:ext cx="1229091" cy="152202"/>
          </a:xfrm>
          <a:prstGeom prst="rect">
            <a:avLst/>
          </a:prstGeom>
          <a:noFill/>
          <a:ln/>
        </p:spPr>
        <p:txBody>
          <a:bodyPr wrap="none" lIns="0" tIns="0" rIns="0" bIns="0" rtlCol="0" anchor="t"/>
          <a:lstStyle/>
          <a:p>
            <a:pPr algn="l" indent="0" marL="0">
              <a:lnSpc>
                <a:spcPct val="96000"/>
              </a:lnSpc>
              <a:buNone/>
            </a:pPr>
            <a:r>
              <a:rPr lang="en-US" sz="1000" dirty="0">
                <a:solidFill>
                  <a:srgbClr val="272525"/>
                </a:solidFill>
                <a:latin typeface="Inter" pitchFamily="34" charset="0"/>
                <a:ea typeface="Inter" pitchFamily="34" charset="-122"/>
                <a:cs typeface="Inter" pitchFamily="34" charset="-120"/>
              </a:rPr>
              <a:t>BÀI TOÁN</a:t>
            </a:r>
            <a:endParaRPr lang="en-US" sz="1000" dirty="0"/>
          </a:p>
        </p:txBody>
      </p:sp>
      <p:sp>
        <p:nvSpPr>
          <p:cNvPr id="4" name="Text 2"/>
          <p:cNvSpPr/>
          <p:nvPr/>
        </p:nvSpPr>
        <p:spPr>
          <a:xfrm>
            <a:off x="661475" y="82966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312F2B"/>
                </a:solidFill>
                <a:latin typeface="Inter" pitchFamily="34" charset="0"/>
                <a:ea typeface="Inter" pitchFamily="34" charset="-122"/>
                <a:cs typeface="Inter" pitchFamily="34" charset="-120"/>
              </a:rPr>
              <a:t>Bài toán mô phỏng (Problem Definition)</a:t>
            </a:r>
            <a:endParaRPr lang="en-US" sz="3250" dirty="0"/>
          </a:p>
        </p:txBody>
      </p:sp>
      <p:sp>
        <p:nvSpPr>
          <p:cNvPr id="5" name="Shape 3"/>
          <p:cNvSpPr/>
          <p:nvPr/>
        </p:nvSpPr>
        <p:spPr>
          <a:xfrm>
            <a:off x="542415" y="1594445"/>
            <a:ext cx="5470785" cy="4751388"/>
          </a:xfrm>
          <a:prstGeom prst="roundRect">
            <a:avLst>
              <a:gd name="adj" fmla="val 2506"/>
            </a:avLst>
          </a:prstGeom>
          <a:solidFill>
            <a:srgbClr val="E5E5E0">
              <a:alpha val="95000"/>
            </a:srgbClr>
          </a:solidFill>
          <a:ln/>
        </p:spPr>
      </p:sp>
      <p:sp>
        <p:nvSpPr>
          <p:cNvPr id="6" name="Text 4"/>
          <p:cNvSpPr/>
          <p:nvPr/>
        </p:nvSpPr>
        <p:spPr>
          <a:xfrm>
            <a:off x="707710" y="1759744"/>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Đối tượng nghiên cứu</a:t>
            </a:r>
            <a:endParaRPr lang="en-US" sz="1600" dirty="0"/>
          </a:p>
        </p:txBody>
      </p:sp>
      <p:sp>
        <p:nvSpPr>
          <p:cNvPr id="7" name="Text 5"/>
          <p:cNvSpPr/>
          <p:nvPr/>
        </p:nvSpPr>
        <p:spPr>
          <a:xfrm>
            <a:off x="707710" y="2183507"/>
            <a:ext cx="514019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Ngón tay robot mềm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điều khiển bằng dây cáp kéo lệch tâm</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 một trong những cơ cấu phổ biến nhất trong Soft Robotics, có khả năng tạo ra chuyển động uốn cong phức tạp với cấu trúc đơn giản.</a:t>
            </a:r>
            <a:endParaRPr lang="en-US" sz="1300" dirty="0"/>
          </a:p>
        </p:txBody>
      </p:sp>
      <p:sp>
        <p:nvSpPr>
          <p:cNvPr id="8" name="Text 6"/>
          <p:cNvSpPr/>
          <p:nvPr/>
        </p:nvSpPr>
        <p:spPr>
          <a:xfrm>
            <a:off x="707710" y="3407271"/>
            <a:ext cx="5140196"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Thách thức kỹ thuật</a:t>
            </a:r>
            <a:endParaRPr lang="en-US" sz="1600" dirty="0"/>
          </a:p>
        </p:txBody>
      </p:sp>
      <p:sp>
        <p:nvSpPr>
          <p:cNvPr id="9" name="Text 7"/>
          <p:cNvSpPr/>
          <p:nvPr/>
        </p:nvSpPr>
        <p:spPr>
          <a:xfrm>
            <a:off x="707710" y="3831034"/>
            <a:ext cx="5140196"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Chuyển động biến dạng uốn cong của vật liệu mềm mang tính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phi tuyến cao</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không thể giải tích thông thường. Phương pháp Phần tử Hữu hạn (FEM) kết hợp Constraint Solver là giải pháp tối ưu.</a:t>
            </a:r>
            <a:endParaRPr lang="en-US" sz="1300" dirty="0"/>
          </a:p>
        </p:txBody>
      </p:sp>
      <p:sp>
        <p:nvSpPr>
          <p:cNvPr id="10" name="Text 8"/>
          <p:cNvSpPr/>
          <p:nvPr/>
        </p:nvSpPr>
        <p:spPr>
          <a:xfrm>
            <a:off x="6303904" y="1759744"/>
            <a:ext cx="5232666"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Ba mục tiêu cụ thể</a:t>
            </a:r>
            <a:endParaRPr lang="en-US" sz="1600" dirty="0"/>
          </a:p>
        </p:txBody>
      </p:sp>
      <p:sp>
        <p:nvSpPr>
          <p:cNvPr id="11" name="Shape 9"/>
          <p:cNvSpPr/>
          <p:nvPr/>
        </p:nvSpPr>
        <p:spPr>
          <a:xfrm>
            <a:off x="6303904" y="2204244"/>
            <a:ext cx="372061" cy="372070"/>
          </a:xfrm>
          <a:prstGeom prst="roundRect">
            <a:avLst>
              <a:gd name="adj" fmla="val 18670"/>
            </a:avLst>
          </a:prstGeom>
          <a:solidFill>
            <a:srgbClr val="5E98F1"/>
          </a:solidFill>
          <a:ln w="6350">
            <a:solidFill>
              <a:srgbClr val="447ED7"/>
            </a:solidFill>
            <a:prstDash val="solid"/>
          </a:ln>
        </p:spPr>
      </p:sp>
      <p:sp>
        <p:nvSpPr>
          <p:cNvPr id="12" name="Text 10"/>
          <p:cNvSpPr/>
          <p:nvPr/>
        </p:nvSpPr>
        <p:spPr>
          <a:xfrm>
            <a:off x="6365914" y="2235250"/>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000000"/>
                </a:solidFill>
                <a:latin typeface="Inter" pitchFamily="34" charset="0"/>
                <a:ea typeface="Inter" pitchFamily="34" charset="-122"/>
                <a:cs typeface="Inter" pitchFamily="34" charset="-120"/>
              </a:rPr>
              <a:t>1</a:t>
            </a:r>
            <a:endParaRPr lang="en-US" sz="1950" dirty="0"/>
          </a:p>
        </p:txBody>
      </p:sp>
      <p:sp>
        <p:nvSpPr>
          <p:cNvPr id="13" name="Text 11"/>
          <p:cNvSpPr/>
          <p:nvPr/>
        </p:nvSpPr>
        <p:spPr>
          <a:xfrm>
            <a:off x="6841259" y="2261096"/>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272525"/>
                </a:solidFill>
                <a:latin typeface="Inter" pitchFamily="34" charset="0"/>
                <a:ea typeface="Inter" pitchFamily="34" charset="-122"/>
                <a:cs typeface="Inter" pitchFamily="34" charset="-120"/>
              </a:rPr>
              <a:t>Dựng mô hình FEM</a:t>
            </a:r>
            <a:endParaRPr lang="en-US" sz="1600" dirty="0"/>
          </a:p>
        </p:txBody>
      </p:sp>
      <p:sp>
        <p:nvSpPr>
          <p:cNvPr id="14" name="Text 12"/>
          <p:cNvSpPr/>
          <p:nvPr/>
        </p:nvSpPr>
        <p:spPr>
          <a:xfrm>
            <a:off x="6841259" y="2684859"/>
            <a:ext cx="4695311"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Xây dựng ngón tay mềm chịu lực kéo cáp lệch tâm trên SOFA Framework với đầy đủ điều kiện biên, vật liệu và truyền động.</a:t>
            </a:r>
            <a:endParaRPr lang="en-US" sz="1300" dirty="0"/>
          </a:p>
        </p:txBody>
      </p:sp>
      <p:sp>
        <p:nvSpPr>
          <p:cNvPr id="15" name="Shape 13"/>
          <p:cNvSpPr/>
          <p:nvPr/>
        </p:nvSpPr>
        <p:spPr>
          <a:xfrm>
            <a:off x="6303904" y="3809405"/>
            <a:ext cx="372061" cy="372070"/>
          </a:xfrm>
          <a:prstGeom prst="roundRect">
            <a:avLst>
              <a:gd name="adj" fmla="val 18670"/>
            </a:avLst>
          </a:prstGeom>
          <a:solidFill>
            <a:srgbClr val="B05EF1"/>
          </a:solidFill>
          <a:ln w="6350">
            <a:solidFill>
              <a:srgbClr val="9644D7"/>
            </a:solidFill>
            <a:prstDash val="solid"/>
          </a:ln>
        </p:spPr>
      </p:sp>
      <p:sp>
        <p:nvSpPr>
          <p:cNvPr id="16" name="Text 14"/>
          <p:cNvSpPr/>
          <p:nvPr/>
        </p:nvSpPr>
        <p:spPr>
          <a:xfrm>
            <a:off x="6365914" y="3840411"/>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000000"/>
                </a:solidFill>
                <a:latin typeface="Inter" pitchFamily="34" charset="0"/>
                <a:ea typeface="Inter" pitchFamily="34" charset="-122"/>
                <a:cs typeface="Inter" pitchFamily="34" charset="-120"/>
              </a:rPr>
              <a:t>2</a:t>
            </a:r>
            <a:endParaRPr lang="en-US" sz="1950" dirty="0"/>
          </a:p>
        </p:txBody>
      </p:sp>
      <p:sp>
        <p:nvSpPr>
          <p:cNvPr id="17" name="Text 15"/>
          <p:cNvSpPr/>
          <p:nvPr/>
        </p:nvSpPr>
        <p:spPr>
          <a:xfrm>
            <a:off x="6841259" y="3866257"/>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272525"/>
                </a:solidFill>
                <a:latin typeface="Inter" pitchFamily="34" charset="0"/>
                <a:ea typeface="Inter" pitchFamily="34" charset="-122"/>
                <a:cs typeface="Inter" pitchFamily="34" charset="-120"/>
              </a:rPr>
              <a:t>Khảo sát Mô-đun Young (E)</a:t>
            </a:r>
            <a:endParaRPr lang="en-US" sz="1600" dirty="0"/>
          </a:p>
        </p:txBody>
      </p:sp>
      <p:sp>
        <p:nvSpPr>
          <p:cNvPr id="18" name="Text 16"/>
          <p:cNvSpPr/>
          <p:nvPr/>
        </p:nvSpPr>
        <p:spPr>
          <a:xfrm>
            <a:off x="6841259" y="4290020"/>
            <a:ext cx="469531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Tự động hóa khảo sát ảnh hưởng của E đến độ uốn cong ngón tay qua 3 mức giá trị: 100, 150, 200 kPa.</a:t>
            </a:r>
            <a:endParaRPr lang="en-US" sz="1300" dirty="0"/>
          </a:p>
        </p:txBody>
      </p:sp>
      <p:sp>
        <p:nvSpPr>
          <p:cNvPr id="19" name="Shape 17"/>
          <p:cNvSpPr/>
          <p:nvPr/>
        </p:nvSpPr>
        <p:spPr>
          <a:xfrm>
            <a:off x="6303904" y="5149949"/>
            <a:ext cx="372061" cy="372070"/>
          </a:xfrm>
          <a:prstGeom prst="roundRect">
            <a:avLst>
              <a:gd name="adj" fmla="val 18670"/>
            </a:avLst>
          </a:prstGeom>
          <a:solidFill>
            <a:srgbClr val="5CC97B"/>
          </a:solidFill>
          <a:ln w="6350">
            <a:solidFill>
              <a:srgbClr val="42AF61"/>
            </a:solidFill>
            <a:prstDash val="solid"/>
          </a:ln>
        </p:spPr>
      </p:sp>
      <p:sp>
        <p:nvSpPr>
          <p:cNvPr id="20" name="Text 18"/>
          <p:cNvSpPr/>
          <p:nvPr/>
        </p:nvSpPr>
        <p:spPr>
          <a:xfrm>
            <a:off x="6365914" y="5180955"/>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000000"/>
                </a:solidFill>
                <a:latin typeface="Inter" pitchFamily="34" charset="0"/>
                <a:ea typeface="Inter" pitchFamily="34" charset="-122"/>
                <a:cs typeface="Inter" pitchFamily="34" charset="-120"/>
              </a:rPr>
              <a:t>3</a:t>
            </a:r>
            <a:endParaRPr lang="en-US" sz="1950" dirty="0"/>
          </a:p>
        </p:txBody>
      </p:sp>
      <p:sp>
        <p:nvSpPr>
          <p:cNvPr id="21" name="Text 19"/>
          <p:cNvSpPr/>
          <p:nvPr/>
        </p:nvSpPr>
        <p:spPr>
          <a:xfrm>
            <a:off x="6841259" y="5206802"/>
            <a:ext cx="4695311" cy="258465"/>
          </a:xfrm>
          <a:prstGeom prst="rect">
            <a:avLst/>
          </a:prstGeom>
          <a:noFill/>
          <a:ln/>
        </p:spPr>
        <p:txBody>
          <a:bodyPr wrap="none" lIns="0" tIns="0" rIns="0" bIns="0" rtlCol="0" anchor="t"/>
          <a:lstStyle/>
          <a:p>
            <a:pPr algn="l" indent="0" marL="0">
              <a:lnSpc>
                <a:spcPct val="104000"/>
              </a:lnSpc>
              <a:buNone/>
            </a:pPr>
            <a:r>
              <a:rPr lang="en-US" sz="1600" dirty="0">
                <a:solidFill>
                  <a:srgbClr val="272525"/>
                </a:solidFill>
                <a:latin typeface="Inter" pitchFamily="34" charset="0"/>
                <a:ea typeface="Inter" pitchFamily="34" charset="-122"/>
                <a:cs typeface="Inter" pitchFamily="34" charset="-120"/>
              </a:rPr>
              <a:t>Trích xuất &amp; Phân tích dữ liệu</a:t>
            </a:r>
            <a:endParaRPr lang="en-US" sz="1600" dirty="0"/>
          </a:p>
        </p:txBody>
      </p:sp>
      <p:sp>
        <p:nvSpPr>
          <p:cNvPr id="22" name="Text 20"/>
          <p:cNvSpPr/>
          <p:nvPr/>
        </p:nvSpPr>
        <p:spPr>
          <a:xfrm>
            <a:off x="6841259" y="5630565"/>
            <a:ext cx="469531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Ghi nhận chuyển vị đầu mút (Tip Y-Displacement) và xuất file 3D .vtu để phân tích trong ParaView.</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865412"/>
            <a:ext cx="825182" cy="163413"/>
          </a:xfrm>
          <a:prstGeom prst="roundRect">
            <a:avLst>
              <a:gd name="adj" fmla="val 22104"/>
            </a:avLst>
          </a:prstGeom>
          <a:solidFill>
            <a:srgbClr val="E8E8E3"/>
          </a:solidFill>
          <a:ln/>
        </p:spPr>
      </p:sp>
      <p:sp>
        <p:nvSpPr>
          <p:cNvPr id="3" name="Text 1"/>
          <p:cNvSpPr/>
          <p:nvPr/>
        </p:nvSpPr>
        <p:spPr>
          <a:xfrm>
            <a:off x="725965" y="1897658"/>
            <a:ext cx="1305785" cy="98921"/>
          </a:xfrm>
          <a:prstGeom prst="rect">
            <a:avLst/>
          </a:prstGeom>
          <a:noFill/>
          <a:ln/>
        </p:spPr>
        <p:txBody>
          <a:bodyPr wrap="none" lIns="0" tIns="0" rIns="0" bIns="0" rtlCol="0" anchor="t"/>
          <a:lstStyle/>
          <a:p>
            <a:pPr algn="l" indent="0" marL="0">
              <a:lnSpc>
                <a:spcPct val="96000"/>
              </a:lnSpc>
              <a:buNone/>
            </a:pPr>
            <a:r>
              <a:rPr lang="en-US" sz="650" dirty="0">
                <a:solidFill>
                  <a:srgbClr val="272525"/>
                </a:solidFill>
                <a:latin typeface="Inter" pitchFamily="34" charset="0"/>
                <a:ea typeface="Inter" pitchFamily="34" charset="-122"/>
                <a:cs typeface="Inter" pitchFamily="34" charset="-120"/>
              </a:rPr>
              <a:t>MÔ HÌNH VẬT LÝ</a:t>
            </a:r>
            <a:endParaRPr lang="en-US" sz="650" dirty="0"/>
          </a:p>
        </p:txBody>
      </p:sp>
      <p:sp>
        <p:nvSpPr>
          <p:cNvPr id="4" name="Text 2"/>
          <p:cNvSpPr/>
          <p:nvPr/>
        </p:nvSpPr>
        <p:spPr>
          <a:xfrm>
            <a:off x="661475" y="2177256"/>
            <a:ext cx="5304399" cy="335955"/>
          </a:xfrm>
          <a:prstGeom prst="rect">
            <a:avLst/>
          </a:prstGeom>
          <a:noFill/>
          <a:ln/>
        </p:spPr>
        <p:txBody>
          <a:bodyPr wrap="none" lIns="0" tIns="0" rIns="0" bIns="0" rtlCol="0" anchor="t"/>
          <a:lstStyle/>
          <a:p>
            <a:pPr algn="l" indent="0" marL="0">
              <a:lnSpc>
                <a:spcPct val="104000"/>
              </a:lnSpc>
              <a:buNone/>
            </a:pPr>
            <a:r>
              <a:rPr lang="en-US" sz="2100" dirty="0">
                <a:solidFill>
                  <a:srgbClr val="312F2B"/>
                </a:solidFill>
                <a:latin typeface="Inter" pitchFamily="34" charset="0"/>
                <a:ea typeface="Inter" pitchFamily="34" charset="-122"/>
                <a:cs typeface="Inter" pitchFamily="34" charset="-120"/>
              </a:rPr>
              <a:t>Mô hình vật lý &amp; Điều kiện biên</a:t>
            </a:r>
            <a:endParaRPr lang="en-US" sz="2100" dirty="0"/>
          </a:p>
        </p:txBody>
      </p:sp>
      <p:sp>
        <p:nvSpPr>
          <p:cNvPr id="5" name="Text 3"/>
          <p:cNvSpPr/>
          <p:nvPr/>
        </p:nvSpPr>
        <p:spPr>
          <a:xfrm>
            <a:off x="6234353" y="2170212"/>
            <a:ext cx="5911702" cy="141883"/>
          </a:xfrm>
          <a:prstGeom prst="rect">
            <a:avLst/>
          </a:prstGeom>
          <a:noFill/>
          <a:ln/>
        </p:spPr>
        <p:txBody>
          <a:bodyPr wrap="none" lIns="0" tIns="0" rIns="0" bIns="0" rtlCol="0" anchor="t"/>
          <a:lstStyle/>
          <a:p>
            <a:pPr algn="l" indent="0" marL="0">
              <a:lnSpc>
                <a:spcPct val="110000"/>
              </a:lnSpc>
              <a:buNone/>
            </a:pPr>
            <a:endParaRPr lang="en-US" sz="800" dirty="0"/>
          </a:p>
        </p:txBody>
      </p:sp>
      <p:sp>
        <p:nvSpPr>
          <p:cNvPr id="6" name="Shape 4"/>
          <p:cNvSpPr/>
          <p:nvPr/>
        </p:nvSpPr>
        <p:spPr>
          <a:xfrm>
            <a:off x="661475" y="2661642"/>
            <a:ext cx="5399449" cy="1130498"/>
          </a:xfrm>
          <a:prstGeom prst="roundRect">
            <a:avLst>
              <a:gd name="adj" fmla="val 3994"/>
            </a:avLst>
          </a:prstGeom>
          <a:solidFill>
            <a:srgbClr val="E5E5E0"/>
          </a:solidFill>
          <a:ln w="6350">
            <a:solidFill>
              <a:srgbClr val="CBCBC6"/>
            </a:solidFill>
            <a:prstDash val="solid"/>
          </a:ln>
        </p:spPr>
      </p:sp>
      <p:sp>
        <p:nvSpPr>
          <p:cNvPr id="7" name="Text 5"/>
          <p:cNvSpPr/>
          <p:nvPr/>
        </p:nvSpPr>
        <p:spPr>
          <a:xfrm>
            <a:off x="775276" y="2775446"/>
            <a:ext cx="5171846" cy="167878"/>
          </a:xfrm>
          <a:prstGeom prst="rect">
            <a:avLst/>
          </a:prstGeom>
          <a:noFill/>
          <a:ln/>
        </p:spPr>
        <p:txBody>
          <a:bodyPr wrap="none" lIns="0" tIns="0" rIns="0" bIns="0" rtlCol="0" anchor="t"/>
          <a:lstStyle/>
          <a:p>
            <a:pPr algn="l" indent="0" marL="0">
              <a:lnSpc>
                <a:spcPct val="104000"/>
              </a:lnSpc>
              <a:buNone/>
            </a:pPr>
            <a:r>
              <a:rPr lang="en-US" sz="1050" dirty="0">
                <a:solidFill>
                  <a:srgbClr val="000000"/>
                </a:solidFill>
                <a:latin typeface="Inter" pitchFamily="34" charset="0"/>
                <a:ea typeface="Inter" pitchFamily="34" charset="-122"/>
                <a:cs typeface="Inter" pitchFamily="34" charset="-120"/>
              </a:rPr>
              <a:t>Hình học &amp; Lưới phần tử</a:t>
            </a:r>
            <a:endParaRPr lang="en-US" sz="1050" dirty="0"/>
          </a:p>
        </p:txBody>
      </p:sp>
      <p:sp>
        <p:nvSpPr>
          <p:cNvPr id="8" name="Text 6"/>
          <p:cNvSpPr/>
          <p:nvPr/>
        </p:nvSpPr>
        <p:spPr>
          <a:xfrm>
            <a:off x="775276" y="2985195"/>
            <a:ext cx="5171846" cy="693142"/>
          </a:xfrm>
          <a:prstGeom prst="rect">
            <a:avLst/>
          </a:prstGeom>
          <a:noFill/>
          <a:ln/>
        </p:spPr>
        <p:txBody>
          <a:bodyPr wrap="square" lIns="0" tIns="0" rIns="0" bIns="0" rtlCol="0" anchor="t"/>
          <a:lstStyle/>
          <a:p>
            <a:pPr algn="l" indent="0" marL="0">
              <a:lnSpc>
                <a:spcPct val="110000"/>
              </a:lnSpc>
              <a:spcAft>
                <a:spcPts val="300"/>
              </a:spcAft>
              <a:buNone/>
            </a:pPr>
            <a:r>
              <a:rPr lang="en-US" sz="800" dirty="0">
                <a:solidFill>
                  <a:srgbClr val="000000"/>
                </a:solidFill>
                <a:latin typeface="Inter" pitchFamily="34" charset="0"/>
                <a:ea typeface="Inter" pitchFamily="34" charset="-122"/>
                <a:cs typeface="Inter" pitchFamily="34" charset="-120"/>
              </a:rPr>
              <a:t>Khối hình chữ nhật </a:t>
            </a:r>
            <a:pPr algn="l" indent="0" marL="0">
              <a:lnSpc>
                <a:spcPct val="110000"/>
              </a:lnSpc>
              <a:spcAft>
                <a:spcPts val="300"/>
              </a:spcAft>
              <a:buNone/>
            </a:pPr>
            <a:r>
              <a:rPr lang="en-US" sz="800" b="1" dirty="0">
                <a:solidFill>
                  <a:srgbClr val="000000"/>
                </a:solidFill>
                <a:latin typeface="Inter Bold" pitchFamily="34" charset="0"/>
                <a:ea typeface="Inter Bold" pitchFamily="34" charset="-122"/>
                <a:cs typeface="Inter Bold" pitchFamily="34" charset="-120"/>
              </a:rPr>
              <a:t>20×20×100 mm</a:t>
            </a:r>
            <a:endParaRPr lang="en-US" sz="800" dirty="0"/>
          </a:p>
          <a:p>
            <a:pPr algn="l" indent="0" marL="0">
              <a:lnSpc>
                <a:spcPct val="110000"/>
              </a:lnSpc>
              <a:spcAft>
                <a:spcPts val="300"/>
              </a:spcAft>
              <a:buNone/>
            </a:pPr>
            <a:r>
              <a:rPr lang="en-US" sz="800" dirty="0">
                <a:solidFill>
                  <a:srgbClr val="000000"/>
                </a:solidFill>
                <a:latin typeface="Inter" pitchFamily="34" charset="0"/>
                <a:ea typeface="Inter" pitchFamily="34" charset="-122"/>
                <a:cs typeface="Inter" pitchFamily="34" charset="-120"/>
              </a:rPr>
              <a:t>Loại lưới: </a:t>
            </a:r>
            <a:pPr algn="l" indent="0" marL="0">
              <a:lnSpc>
                <a:spcPct val="110000"/>
              </a:lnSpc>
              <a:spcAft>
                <a:spcPts val="300"/>
              </a:spcAft>
              <a:buNone/>
            </a:pPr>
            <a:r>
              <a:rPr lang="en-US" sz="800" b="1" dirty="0">
                <a:solidFill>
                  <a:srgbClr val="000000"/>
                </a:solidFill>
                <a:latin typeface="Inter Bold" pitchFamily="34" charset="0"/>
                <a:ea typeface="Inter Bold" pitchFamily="34" charset="-122"/>
                <a:cs typeface="Inter Bold" pitchFamily="34" charset="-120"/>
              </a:rPr>
              <a:t>RegularGridTopology</a:t>
            </a:r>
            <a:endParaRPr lang="en-US" sz="800" dirty="0"/>
          </a:p>
          <a:p>
            <a:pPr algn="l" indent="0" marL="0">
              <a:lnSpc>
                <a:spcPct val="110000"/>
              </a:lnSpc>
              <a:spcAft>
                <a:spcPts val="300"/>
              </a:spcAft>
              <a:buNone/>
            </a:pPr>
            <a:r>
              <a:rPr lang="en-US" sz="800" dirty="0">
                <a:solidFill>
                  <a:srgbClr val="000000"/>
                </a:solidFill>
                <a:latin typeface="Inter" pitchFamily="34" charset="0"/>
                <a:ea typeface="Inter" pitchFamily="34" charset="-122"/>
                <a:cs typeface="Inter" pitchFamily="34" charset="-120"/>
              </a:rPr>
              <a:t>Phân chia: </a:t>
            </a:r>
            <a:pPr algn="l" indent="0" marL="0">
              <a:lnSpc>
                <a:spcPct val="110000"/>
              </a:lnSpc>
              <a:spcAft>
                <a:spcPts val="300"/>
              </a:spcAft>
              <a:buNone/>
            </a:pPr>
            <a:r>
              <a:rPr lang="en-US" sz="800" b="1" dirty="0">
                <a:solidFill>
                  <a:srgbClr val="000000"/>
                </a:solidFill>
                <a:latin typeface="Inter Bold" pitchFamily="34" charset="0"/>
                <a:ea typeface="Inter Bold" pitchFamily="34" charset="-122"/>
                <a:cs typeface="Inter Bold" pitchFamily="34" charset="-120"/>
              </a:rPr>
              <a:t>5×5×21 nút Hexahedron</a:t>
            </a:r>
            <a:endParaRPr lang="en-US" sz="800" dirty="0"/>
          </a:p>
          <a:p>
            <a:pPr algn="l" indent="0" marL="0">
              <a:lnSpc>
                <a:spcPct val="110000"/>
              </a:lnSpc>
              <a:buNone/>
            </a:pPr>
            <a:r>
              <a:rPr lang="en-US" sz="800" dirty="0">
                <a:solidFill>
                  <a:srgbClr val="000000"/>
                </a:solidFill>
                <a:latin typeface="Inter" pitchFamily="34" charset="0"/>
                <a:ea typeface="Inter" pitchFamily="34" charset="-122"/>
                <a:cs typeface="Inter" pitchFamily="34" charset="-120"/>
              </a:rPr>
              <a:t>Tổng phần tử: lưới đều, cấu trúc tối ưu cho FEM tuyến tính</a:t>
            </a:r>
            <a:endParaRPr lang="en-US" sz="800" dirty="0"/>
          </a:p>
        </p:txBody>
      </p:sp>
      <p:sp>
        <p:nvSpPr>
          <p:cNvPr id="9" name="Shape 7"/>
          <p:cNvSpPr/>
          <p:nvPr/>
        </p:nvSpPr>
        <p:spPr>
          <a:xfrm>
            <a:off x="6130772" y="2661642"/>
            <a:ext cx="5399449" cy="1130498"/>
          </a:xfrm>
          <a:prstGeom prst="roundRect">
            <a:avLst>
              <a:gd name="adj" fmla="val 3994"/>
            </a:avLst>
          </a:prstGeom>
          <a:solidFill>
            <a:srgbClr val="E8E8E3"/>
          </a:solidFill>
          <a:ln w="6350">
            <a:solidFill>
              <a:srgbClr val="CECEC9"/>
            </a:solidFill>
            <a:prstDash val="solid"/>
          </a:ln>
        </p:spPr>
      </p:sp>
      <p:sp>
        <p:nvSpPr>
          <p:cNvPr id="10" name="Text 8"/>
          <p:cNvSpPr/>
          <p:nvPr/>
        </p:nvSpPr>
        <p:spPr>
          <a:xfrm>
            <a:off x="6244573" y="2775446"/>
            <a:ext cx="5171846" cy="167878"/>
          </a:xfrm>
          <a:prstGeom prst="rect">
            <a:avLst/>
          </a:prstGeom>
          <a:noFill/>
          <a:ln/>
        </p:spPr>
        <p:txBody>
          <a:bodyPr wrap="none" lIns="0" tIns="0" rIns="0" bIns="0" rtlCol="0" anchor="t"/>
          <a:lstStyle/>
          <a:p>
            <a:pPr algn="l" indent="0" marL="0">
              <a:lnSpc>
                <a:spcPct val="104000"/>
              </a:lnSpc>
              <a:buNone/>
            </a:pPr>
            <a:r>
              <a:rPr lang="en-US" sz="1050" dirty="0">
                <a:solidFill>
                  <a:srgbClr val="272525"/>
                </a:solidFill>
                <a:latin typeface="Inter" pitchFamily="34" charset="0"/>
                <a:ea typeface="Inter" pitchFamily="34" charset="-122"/>
                <a:cs typeface="Inter" pitchFamily="34" charset="-120"/>
              </a:rPr>
              <a:t>Mô hình vật liệu</a:t>
            </a:r>
            <a:endParaRPr lang="en-US" sz="1050" dirty="0"/>
          </a:p>
        </p:txBody>
      </p:sp>
      <p:sp>
        <p:nvSpPr>
          <p:cNvPr id="11" name="Text 9"/>
          <p:cNvSpPr/>
          <p:nvPr/>
        </p:nvSpPr>
        <p:spPr>
          <a:xfrm>
            <a:off x="6244573" y="2985195"/>
            <a:ext cx="5171846" cy="693142"/>
          </a:xfrm>
          <a:prstGeom prst="rect">
            <a:avLst/>
          </a:prstGeom>
          <a:noFill/>
          <a:ln/>
        </p:spPr>
        <p:txBody>
          <a:bodyPr wrap="square" lIns="0" tIns="0" rIns="0" bIns="0" rtlCol="0" anchor="t"/>
          <a:lstStyle/>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Bộ giải lực: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HexahedronFEMForceField</a:t>
            </a:r>
            <a:endParaRPr lang="en-US" sz="800" dirty="0"/>
          </a:p>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Loại: Đàn hồi tuyến tính (Linear Elastic)</a:t>
            </a:r>
            <a:endParaRPr lang="en-US" sz="800" dirty="0"/>
          </a:p>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Hệ số Poisson: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ν = 0.45</a:t>
            </a:r>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 (vật liệu gần không nén được)</a:t>
            </a:r>
            <a:endParaRPr lang="en-US" sz="800" dirty="0"/>
          </a:p>
          <a:p>
            <a:pPr algn="l" indent="0" marL="0">
              <a:lnSpc>
                <a:spcPct val="110000"/>
              </a:lnSpc>
              <a:buNone/>
            </a:pPr>
            <a:r>
              <a:rPr lang="en-US" sz="800" dirty="0">
                <a:solidFill>
                  <a:srgbClr val="272525"/>
                </a:solidFill>
                <a:latin typeface="Inter" pitchFamily="34" charset="0"/>
                <a:ea typeface="Inter" pitchFamily="34" charset="-122"/>
                <a:cs typeface="Inter" pitchFamily="34" charset="-120"/>
              </a:rPr>
              <a:t>Khối lượng: </a:t>
            </a:r>
            <a:pPr algn="l" indent="0" marL="0">
              <a:lnSpc>
                <a:spcPct val="110000"/>
              </a:lnSpc>
              <a:buNone/>
            </a:pPr>
            <a:r>
              <a:rPr lang="en-US" sz="800" b="1" dirty="0">
                <a:solidFill>
                  <a:srgbClr val="272525"/>
                </a:solidFill>
                <a:latin typeface="Inter Bold" pitchFamily="34" charset="0"/>
                <a:ea typeface="Inter Bold" pitchFamily="34" charset="-122"/>
                <a:cs typeface="Inter Bold" pitchFamily="34" charset="-120"/>
              </a:rPr>
              <a:t>UniformMass = 50 g</a:t>
            </a:r>
            <a:endParaRPr lang="en-US" sz="800" dirty="0"/>
          </a:p>
        </p:txBody>
      </p:sp>
      <p:sp>
        <p:nvSpPr>
          <p:cNvPr id="12" name="Shape 10"/>
          <p:cNvSpPr/>
          <p:nvPr/>
        </p:nvSpPr>
        <p:spPr>
          <a:xfrm>
            <a:off x="661475" y="3861991"/>
            <a:ext cx="5399449" cy="1130498"/>
          </a:xfrm>
          <a:prstGeom prst="roundRect">
            <a:avLst>
              <a:gd name="adj" fmla="val 3994"/>
            </a:avLst>
          </a:prstGeom>
          <a:solidFill>
            <a:srgbClr val="E8E8E3"/>
          </a:solidFill>
          <a:ln w="6350">
            <a:solidFill>
              <a:srgbClr val="CECEC9"/>
            </a:solidFill>
            <a:prstDash val="solid"/>
          </a:ln>
        </p:spPr>
      </p:sp>
      <p:sp>
        <p:nvSpPr>
          <p:cNvPr id="13" name="Text 11"/>
          <p:cNvSpPr/>
          <p:nvPr/>
        </p:nvSpPr>
        <p:spPr>
          <a:xfrm>
            <a:off x="775276" y="3975795"/>
            <a:ext cx="5171846" cy="167878"/>
          </a:xfrm>
          <a:prstGeom prst="rect">
            <a:avLst/>
          </a:prstGeom>
          <a:noFill/>
          <a:ln/>
        </p:spPr>
        <p:txBody>
          <a:bodyPr wrap="none" lIns="0" tIns="0" rIns="0" bIns="0" rtlCol="0" anchor="t"/>
          <a:lstStyle/>
          <a:p>
            <a:pPr algn="l" indent="0" marL="0">
              <a:lnSpc>
                <a:spcPct val="104000"/>
              </a:lnSpc>
              <a:buNone/>
            </a:pPr>
            <a:r>
              <a:rPr lang="en-US" sz="1050" dirty="0">
                <a:solidFill>
                  <a:srgbClr val="272525"/>
                </a:solidFill>
                <a:latin typeface="Inter" pitchFamily="34" charset="0"/>
                <a:ea typeface="Inter" pitchFamily="34" charset="-122"/>
                <a:cs typeface="Inter" pitchFamily="34" charset="-120"/>
              </a:rPr>
              <a:t>Điều kiện biên (Ngàm)</a:t>
            </a:r>
            <a:endParaRPr lang="en-US" sz="1050" dirty="0"/>
          </a:p>
        </p:txBody>
      </p:sp>
      <p:sp>
        <p:nvSpPr>
          <p:cNvPr id="14" name="Text 12"/>
          <p:cNvSpPr/>
          <p:nvPr/>
        </p:nvSpPr>
        <p:spPr>
          <a:xfrm>
            <a:off x="775276" y="4185543"/>
            <a:ext cx="5171846" cy="509389"/>
          </a:xfrm>
          <a:prstGeom prst="rect">
            <a:avLst/>
          </a:prstGeom>
          <a:noFill/>
          <a:ln/>
        </p:spPr>
        <p:txBody>
          <a:bodyPr wrap="square" lIns="0" tIns="0" rIns="0" bIns="0" rtlCol="0" anchor="t"/>
          <a:lstStyle/>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Phương pháp: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BoxROI</a:t>
            </a:r>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 chọn nút tại mặt đáy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Z = 0 mm</a:t>
            </a:r>
            <a:endParaRPr lang="en-US" sz="800" dirty="0"/>
          </a:p>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Ràng buộc: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FixedConstraint</a:t>
            </a:r>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 — khóa hoàn toàn 6 bậc tự do tại đáy</a:t>
            </a:r>
            <a:endParaRPr lang="en-US" sz="800" dirty="0"/>
          </a:p>
          <a:p>
            <a:pPr algn="l" indent="0" marL="0">
              <a:lnSpc>
                <a:spcPct val="110000"/>
              </a:lnSpc>
              <a:buNone/>
            </a:pPr>
            <a:r>
              <a:rPr lang="en-US" sz="800" dirty="0">
                <a:solidFill>
                  <a:srgbClr val="272525"/>
                </a:solidFill>
                <a:latin typeface="Inter" pitchFamily="34" charset="0"/>
                <a:ea typeface="Inter" pitchFamily="34" charset="-122"/>
                <a:cs typeface="Inter" pitchFamily="34" charset="-120"/>
              </a:rPr>
              <a:t>Mô phỏng đúng điều kiện ngàm cứng thực tế của robot</a:t>
            </a:r>
            <a:endParaRPr lang="en-US" sz="800" dirty="0"/>
          </a:p>
        </p:txBody>
      </p:sp>
      <p:sp>
        <p:nvSpPr>
          <p:cNvPr id="15" name="Shape 13"/>
          <p:cNvSpPr/>
          <p:nvPr/>
        </p:nvSpPr>
        <p:spPr>
          <a:xfrm>
            <a:off x="6130772" y="3861991"/>
            <a:ext cx="5399449" cy="1130498"/>
          </a:xfrm>
          <a:prstGeom prst="roundRect">
            <a:avLst>
              <a:gd name="adj" fmla="val 3994"/>
            </a:avLst>
          </a:prstGeom>
          <a:solidFill>
            <a:srgbClr val="E8E8E3"/>
          </a:solidFill>
          <a:ln w="6350">
            <a:solidFill>
              <a:srgbClr val="CECEC9"/>
            </a:solidFill>
            <a:prstDash val="solid"/>
          </a:ln>
        </p:spPr>
      </p:sp>
      <p:sp>
        <p:nvSpPr>
          <p:cNvPr id="16" name="Text 14"/>
          <p:cNvSpPr/>
          <p:nvPr/>
        </p:nvSpPr>
        <p:spPr>
          <a:xfrm>
            <a:off x="6244573" y="3975795"/>
            <a:ext cx="5171846" cy="167878"/>
          </a:xfrm>
          <a:prstGeom prst="rect">
            <a:avLst/>
          </a:prstGeom>
          <a:noFill/>
          <a:ln/>
        </p:spPr>
        <p:txBody>
          <a:bodyPr wrap="none" lIns="0" tIns="0" rIns="0" bIns="0" rtlCol="0" anchor="t"/>
          <a:lstStyle/>
          <a:p>
            <a:pPr algn="l" indent="0" marL="0">
              <a:lnSpc>
                <a:spcPct val="104000"/>
              </a:lnSpc>
              <a:buNone/>
            </a:pPr>
            <a:r>
              <a:rPr lang="en-US" sz="1050" dirty="0">
                <a:solidFill>
                  <a:srgbClr val="272525"/>
                </a:solidFill>
                <a:latin typeface="Inter" pitchFamily="34" charset="0"/>
                <a:ea typeface="Inter" pitchFamily="34" charset="-122"/>
                <a:cs typeface="Inter" pitchFamily="34" charset="-120"/>
              </a:rPr>
              <a:t>Cơ cấu truyền động (Cáp)</a:t>
            </a:r>
            <a:endParaRPr lang="en-US" sz="1050" dirty="0"/>
          </a:p>
        </p:txBody>
      </p:sp>
      <p:sp>
        <p:nvSpPr>
          <p:cNvPr id="17" name="Text 15"/>
          <p:cNvSpPr/>
          <p:nvPr/>
        </p:nvSpPr>
        <p:spPr>
          <a:xfrm>
            <a:off x="6244573" y="4185543"/>
            <a:ext cx="5171846" cy="693142"/>
          </a:xfrm>
          <a:prstGeom prst="rect">
            <a:avLst/>
          </a:prstGeom>
          <a:noFill/>
          <a:ln/>
        </p:spPr>
        <p:txBody>
          <a:bodyPr wrap="square" lIns="0" tIns="0" rIns="0" bIns="0" rtlCol="0" anchor="t"/>
          <a:lstStyle/>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Thành phần: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CableConstraint</a:t>
            </a:r>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 lệch tâm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X = 6.0 mm</a:t>
            </a:r>
            <a:endParaRPr lang="en-US" sz="800" dirty="0"/>
          </a:p>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Nhúng cáp vào FEM: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BarycentricMapping</a:t>
            </a:r>
            <a:endParaRPr lang="en-US" sz="800" dirty="0"/>
          </a:p>
          <a:p>
            <a:pPr algn="l" indent="0" marL="0">
              <a:lnSpc>
                <a:spcPct val="110000"/>
              </a:lnSpc>
              <a:spcAft>
                <a:spcPts val="300"/>
              </a:spcAft>
              <a:buNone/>
            </a:pPr>
            <a:r>
              <a:rPr lang="en-US" sz="800" dirty="0">
                <a:solidFill>
                  <a:srgbClr val="272525"/>
                </a:solidFill>
                <a:latin typeface="Inter" pitchFamily="34" charset="0"/>
                <a:ea typeface="Inter" pitchFamily="34" charset="-122"/>
                <a:cs typeface="Inter" pitchFamily="34" charset="-120"/>
              </a:rPr>
              <a:t>Hành trình rút dây: </a:t>
            </a:r>
            <a:pPr algn="l" indent="0" marL="0">
              <a:lnSpc>
                <a:spcPct val="110000"/>
              </a:lnSpc>
              <a:spcAft>
                <a:spcPts val="300"/>
              </a:spcAft>
              <a:buNone/>
            </a:pPr>
            <a:r>
              <a:rPr lang="en-US" sz="800" b="1" dirty="0">
                <a:solidFill>
                  <a:srgbClr val="272525"/>
                </a:solidFill>
                <a:latin typeface="Inter Bold" pitchFamily="34" charset="0"/>
                <a:ea typeface="Inter Bold" pitchFamily="34" charset="-122"/>
                <a:cs typeface="Inter Bold" pitchFamily="34" charset="-120"/>
              </a:rPr>
              <a:t>0 → 15 mm</a:t>
            </a:r>
            <a:endParaRPr lang="en-US" sz="800" dirty="0"/>
          </a:p>
          <a:p>
            <a:pPr algn="l" indent="0" marL="0">
              <a:lnSpc>
                <a:spcPct val="110000"/>
              </a:lnSpc>
              <a:buNone/>
            </a:pPr>
            <a:r>
              <a:rPr lang="en-US" sz="800" dirty="0">
                <a:solidFill>
                  <a:srgbClr val="272525"/>
                </a:solidFill>
                <a:latin typeface="Inter" pitchFamily="34" charset="0"/>
                <a:ea typeface="Inter" pitchFamily="34" charset="-122"/>
                <a:cs typeface="Inter" pitchFamily="34" charset="-120"/>
              </a:rPr>
              <a:t>Tạo mô-men uốn lệch tâm gây biến dạng cong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472281"/>
            <a:ext cx="1023317" cy="251420"/>
          </a:xfrm>
          <a:prstGeom prst="roundRect">
            <a:avLst>
              <a:gd name="adj" fmla="val 22103"/>
            </a:avLst>
          </a:prstGeom>
          <a:solidFill>
            <a:srgbClr val="E8E8E3"/>
          </a:solidFill>
          <a:ln/>
        </p:spPr>
      </p:sp>
      <p:sp>
        <p:nvSpPr>
          <p:cNvPr id="3" name="Text 1"/>
          <p:cNvSpPr/>
          <p:nvPr/>
        </p:nvSpPr>
        <p:spPr>
          <a:xfrm>
            <a:off x="760691" y="521891"/>
            <a:ext cx="1434469" cy="152202"/>
          </a:xfrm>
          <a:prstGeom prst="rect">
            <a:avLst/>
          </a:prstGeom>
          <a:noFill/>
          <a:ln/>
        </p:spPr>
        <p:txBody>
          <a:bodyPr wrap="none" lIns="0" tIns="0" rIns="0" bIns="0" rtlCol="0" anchor="t"/>
          <a:lstStyle/>
          <a:p>
            <a:pPr algn="l" indent="0" marL="0">
              <a:lnSpc>
                <a:spcPct val="96000"/>
              </a:lnSpc>
              <a:buNone/>
            </a:pPr>
            <a:r>
              <a:rPr lang="en-US" sz="1000" dirty="0">
                <a:solidFill>
                  <a:srgbClr val="272525"/>
                </a:solidFill>
                <a:latin typeface="Inter" pitchFamily="34" charset="0"/>
                <a:ea typeface="Inter" pitchFamily="34" charset="-122"/>
                <a:cs typeface="Inter" pitchFamily="34" charset="-120"/>
              </a:rPr>
              <a:t>REPOSITORY</a:t>
            </a:r>
            <a:endParaRPr lang="en-US" sz="1000" dirty="0"/>
          </a:p>
        </p:txBody>
      </p:sp>
      <p:sp>
        <p:nvSpPr>
          <p:cNvPr id="4" name="Text 2"/>
          <p:cNvSpPr/>
          <p:nvPr/>
        </p:nvSpPr>
        <p:spPr>
          <a:xfrm>
            <a:off x="661475" y="78978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312F2B"/>
                </a:solidFill>
                <a:latin typeface="Inter" pitchFamily="34" charset="0"/>
                <a:ea typeface="Inter" pitchFamily="34" charset="-122"/>
                <a:cs typeface="Inter" pitchFamily="34" charset="-120"/>
              </a:rPr>
              <a:t>Cấu trúc Repository (GitHub Structure)</a:t>
            </a:r>
            <a:endParaRPr lang="en-US" sz="3250" dirty="0"/>
          </a:p>
        </p:txBody>
      </p:sp>
      <p:sp>
        <p:nvSpPr>
          <p:cNvPr id="5" name="Shape 3"/>
          <p:cNvSpPr/>
          <p:nvPr/>
        </p:nvSpPr>
        <p:spPr>
          <a:xfrm>
            <a:off x="542415" y="1554559"/>
            <a:ext cx="4343490" cy="4831060"/>
          </a:xfrm>
          <a:prstGeom prst="roundRect">
            <a:avLst>
              <a:gd name="adj" fmla="val 2742"/>
            </a:avLst>
          </a:prstGeom>
          <a:solidFill>
            <a:srgbClr val="AFCBF8">
              <a:alpha val="95000"/>
            </a:srgbClr>
          </a:solidFill>
          <a:ln/>
        </p:spPr>
      </p:sp>
      <p:sp>
        <p:nvSpPr>
          <p:cNvPr id="6" name="Text 4"/>
          <p:cNvSpPr/>
          <p:nvPr/>
        </p:nvSpPr>
        <p:spPr>
          <a:xfrm>
            <a:off x="707710" y="1719858"/>
            <a:ext cx="4012901"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Sơ đồ thư mục dự án</a:t>
            </a:r>
            <a:endParaRPr lang="en-US" sz="1600" dirty="0"/>
          </a:p>
        </p:txBody>
      </p:sp>
      <p:sp>
        <p:nvSpPr>
          <p:cNvPr id="7" name="Shape 5"/>
          <p:cNvSpPr/>
          <p:nvPr/>
        </p:nvSpPr>
        <p:spPr>
          <a:xfrm>
            <a:off x="707710" y="2164358"/>
            <a:ext cx="4012901" cy="4035227"/>
          </a:xfrm>
          <a:prstGeom prst="roundRect">
            <a:avLst>
              <a:gd name="adj" fmla="val 1731"/>
            </a:avLst>
          </a:prstGeom>
          <a:solidFill>
            <a:srgbClr val="A2BEEB"/>
          </a:solidFill>
          <a:ln/>
        </p:spPr>
      </p:sp>
      <p:sp>
        <p:nvSpPr>
          <p:cNvPr id="8" name="Text 6"/>
          <p:cNvSpPr/>
          <p:nvPr/>
        </p:nvSpPr>
        <p:spPr>
          <a:xfrm>
            <a:off x="906142" y="2329656"/>
            <a:ext cx="3616036" cy="3704630"/>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project-name/</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README.md</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LICENSE          (MIT)</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requirements.txt</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src/</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config.py</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finger_model.py</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main.py</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results/</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*.vtu</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bending_comparison.png</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docs/</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flowchart.png</a:t>
            </a:r>
            <a:endParaRPr lang="en-US" sz="1300" dirty="0"/>
          </a:p>
          <a:p>
            <a:pPr algn="l" indent="0" marL="0">
              <a:lnSpc>
                <a:spcPct val="133000"/>
              </a:lnSpc>
              <a:buNone/>
            </a:pPr>
            <a:r>
              <a:rPr lang="en-US" sz="1300" dirty="0">
                <a:solidFill>
                  <a:srgbClr val="24292E"/>
                </a:solidFill>
                <a:latin typeface="Consolas" pitchFamily="34" charset="0"/>
                <a:ea typeface="Consolas" pitchFamily="34" charset="-122"/>
                <a:cs typeface="Consolas" pitchFamily="34" charset="-120"/>
              </a:rPr>
              <a:t>    └── presentation.pptx</a:t>
            </a:r>
            <a:endParaRPr lang="en-US" sz="1300" dirty="0"/>
          </a:p>
        </p:txBody>
      </p:sp>
      <p:sp>
        <p:nvSpPr>
          <p:cNvPr id="9" name="Text 7"/>
          <p:cNvSpPr/>
          <p:nvPr/>
        </p:nvSpPr>
        <p:spPr>
          <a:xfrm>
            <a:off x="5176609" y="1719858"/>
            <a:ext cx="6359862" cy="258465"/>
          </a:xfrm>
          <a:prstGeom prst="rect">
            <a:avLst/>
          </a:prstGeom>
          <a:noFill/>
          <a:ln/>
        </p:spPr>
        <p:txBody>
          <a:bodyPr wrap="none" lIns="0" tIns="0" rIns="0" bIns="0" rtlCol="0" anchor="t"/>
          <a:lstStyle/>
          <a:p>
            <a:pPr algn="l" indent="0" marL="0">
              <a:lnSpc>
                <a:spcPct val="104000"/>
              </a:lnSpc>
              <a:buNone/>
            </a:pPr>
            <a:r>
              <a:rPr lang="en-US" sz="1600" dirty="0">
                <a:solidFill>
                  <a:srgbClr val="312F2B"/>
                </a:solidFill>
                <a:latin typeface="Inter" pitchFamily="34" charset="0"/>
                <a:ea typeface="Inter" pitchFamily="34" charset="-122"/>
                <a:cs typeface="Inter" pitchFamily="34" charset="-120"/>
              </a:rPr>
              <a:t>Vai trò từng thành phần</a:t>
            </a:r>
            <a:endParaRPr lang="en-US" sz="1600" dirty="0"/>
          </a:p>
        </p:txBody>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38619" y="2169418"/>
            <a:ext cx="248041" cy="248047"/>
          </a:xfrm>
          <a:prstGeom prst="rect">
            <a:avLst/>
          </a:prstGeom>
        </p:spPr>
      </p:pic>
      <p:sp>
        <p:nvSpPr>
          <p:cNvPr id="11" name="Text 8"/>
          <p:cNvSpPr/>
          <p:nvPr/>
        </p:nvSpPr>
        <p:spPr>
          <a:xfrm>
            <a:off x="5713964" y="2164358"/>
            <a:ext cx="2539242" cy="258465"/>
          </a:xfrm>
          <a:prstGeom prst="rect">
            <a:avLst/>
          </a:prstGeom>
          <a:noFill/>
          <a:ln/>
        </p:spPr>
        <p:txBody>
          <a:bodyPr wrap="none" lIns="0" tIns="0" rIns="0" bIns="0" rtlCol="0" anchor="t"/>
          <a:lstStyle/>
          <a:p>
            <a:pPr algn="l" indent="0" marL="0">
              <a:lnSpc>
                <a:spcPct val="104000"/>
              </a:lnSpc>
              <a:buNone/>
            </a:pPr>
            <a:r>
              <a:rPr lang="en-US" sz="1600" b="1" dirty="0">
                <a:solidFill>
                  <a:srgbClr val="B05EF1"/>
                </a:solidFill>
                <a:latin typeface="Inter Bold" pitchFamily="34" charset="0"/>
                <a:ea typeface="Inter Bold" pitchFamily="34" charset="-122"/>
                <a:cs typeface="Inter Bold" pitchFamily="34" charset="-120"/>
              </a:rPr>
              <a:t>config.py</a:t>
            </a:r>
            <a:endParaRPr lang="en-US" sz="1600" dirty="0"/>
          </a:p>
        </p:txBody>
      </p:sp>
      <p:sp>
        <p:nvSpPr>
          <p:cNvPr id="12" name="Text 9"/>
          <p:cNvSpPr/>
          <p:nvPr/>
        </p:nvSpPr>
        <p:spPr>
          <a:xfrm>
            <a:off x="5713964" y="2588121"/>
            <a:ext cx="2539242" cy="1852315"/>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Khai báo tập trung toàn bộ hằng số: hình học (20×20×100 mm), danh sách giá trị E khảo sát (100/150/200 kPa), vị trí cáp (X = 6 mm), bước thời gian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dt = 0.01s</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Thay đổi kịch bản không cần sửa code mô hình.</a:t>
            </a:r>
            <a:endParaRPr lang="en-US" sz="1300" dirty="0"/>
          </a:p>
        </p:txBody>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21884" y="2169418"/>
            <a:ext cx="248041" cy="248047"/>
          </a:xfrm>
          <a:prstGeom prst="rect">
            <a:avLst/>
          </a:prstGeom>
        </p:spPr>
      </p:pic>
      <p:sp>
        <p:nvSpPr>
          <p:cNvPr id="14" name="Text 10"/>
          <p:cNvSpPr/>
          <p:nvPr/>
        </p:nvSpPr>
        <p:spPr>
          <a:xfrm>
            <a:off x="8997229" y="2164358"/>
            <a:ext cx="2539242" cy="258465"/>
          </a:xfrm>
          <a:prstGeom prst="rect">
            <a:avLst/>
          </a:prstGeom>
          <a:noFill/>
          <a:ln/>
        </p:spPr>
        <p:txBody>
          <a:bodyPr wrap="none" lIns="0" tIns="0" rIns="0" bIns="0" rtlCol="0" anchor="t"/>
          <a:lstStyle/>
          <a:p>
            <a:pPr algn="l" indent="0" marL="0">
              <a:lnSpc>
                <a:spcPct val="104000"/>
              </a:lnSpc>
              <a:buNone/>
            </a:pPr>
            <a:r>
              <a:rPr lang="en-US" sz="1600" b="1" dirty="0">
                <a:solidFill>
                  <a:srgbClr val="FFA44F"/>
                </a:solidFill>
                <a:latin typeface="Inter Bold" pitchFamily="34" charset="0"/>
                <a:ea typeface="Inter Bold" pitchFamily="34" charset="-122"/>
                <a:cs typeface="Inter Bold" pitchFamily="34" charset="-120"/>
              </a:rPr>
              <a:t>finger_model.py</a:t>
            </a:r>
            <a:endParaRPr lang="en-US" sz="1600" dirty="0"/>
          </a:p>
        </p:txBody>
      </p:sp>
      <p:sp>
        <p:nvSpPr>
          <p:cNvPr id="15" name="Text 11"/>
          <p:cNvSpPr/>
          <p:nvPr/>
        </p:nvSpPr>
        <p:spPr>
          <a:xfrm>
            <a:off x="8997229" y="2588121"/>
            <a:ext cx="2539242" cy="1852315"/>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Hàm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createScene()</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dựng toàn bộ cây đối tượng SOFA: Solvers, Mesh Topology, FEM ForceField, Boundary Conditions, Cable Actuator và VTKExporter. Tách biệt hoàn toàn khỏi logic điều khiển.</a:t>
            </a:r>
            <a:endParaRPr lang="en-US" sz="1300" dirty="0"/>
          </a:p>
        </p:txBody>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8619" y="4776192"/>
            <a:ext cx="248041" cy="248047"/>
          </a:xfrm>
          <a:prstGeom prst="rect">
            <a:avLst/>
          </a:prstGeom>
        </p:spPr>
      </p:pic>
      <p:sp>
        <p:nvSpPr>
          <p:cNvPr id="17" name="Text 12"/>
          <p:cNvSpPr/>
          <p:nvPr/>
        </p:nvSpPr>
        <p:spPr>
          <a:xfrm>
            <a:off x="5713964" y="4771132"/>
            <a:ext cx="5822507" cy="258465"/>
          </a:xfrm>
          <a:prstGeom prst="rect">
            <a:avLst/>
          </a:prstGeom>
          <a:noFill/>
          <a:ln/>
        </p:spPr>
        <p:txBody>
          <a:bodyPr wrap="none" lIns="0" tIns="0" rIns="0" bIns="0" rtlCol="0" anchor="t"/>
          <a:lstStyle/>
          <a:p>
            <a:pPr algn="l" indent="0" marL="0">
              <a:lnSpc>
                <a:spcPct val="104000"/>
              </a:lnSpc>
              <a:buNone/>
            </a:pPr>
            <a:r>
              <a:rPr lang="en-US" sz="1600" b="1" dirty="0">
                <a:solidFill>
                  <a:srgbClr val="5CC97B"/>
                </a:solidFill>
                <a:latin typeface="Inter Bold" pitchFamily="34" charset="0"/>
                <a:ea typeface="Inter Bold" pitchFamily="34" charset="-122"/>
                <a:cs typeface="Inter Bold" pitchFamily="34" charset="-120"/>
              </a:rPr>
              <a:t>main.py</a:t>
            </a:r>
            <a:endParaRPr lang="en-US" sz="1600" dirty="0"/>
          </a:p>
        </p:txBody>
      </p:sp>
      <p:sp>
        <p:nvSpPr>
          <p:cNvPr id="18" name="Text 13"/>
          <p:cNvSpPr/>
          <p:nvPr/>
        </p:nvSpPr>
        <p:spPr>
          <a:xfrm>
            <a:off x="5713964" y="5194895"/>
            <a:ext cx="5822507"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Vòng lặp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animate()</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tự động khảo sát 3 chu kỳ mô phỏng nối tiếp, thu thập Tip Y-Displacement, lưu file .vtu và xuất đồ thị </a:t>
            </a:r>
            <a:pPr algn="l" indent="0" marL="0">
              <a:lnSpc>
                <a:spcPct val="133000"/>
              </a:lnSpc>
              <a:buNone/>
            </a:pPr>
            <a:r>
              <a:rPr lang="en-US" sz="1300" b="1" dirty="0">
                <a:solidFill>
                  <a:srgbClr val="272525"/>
                </a:solidFill>
                <a:latin typeface="Inter Bold" pitchFamily="34" charset="0"/>
                <a:ea typeface="Inter Bold" pitchFamily="34" charset="-122"/>
                <a:cs typeface="Inter Bold" pitchFamily="34" charset="-120"/>
              </a:rPr>
              <a:t>bending_comparison.png</a:t>
            </a:r>
            <a:pPr algn="l" indent="0" marL="0">
              <a:lnSpc>
                <a:spcPct val="133000"/>
              </a:lnSpc>
              <a:buNone/>
            </a:pPr>
            <a:r>
              <a:rPr lang="en-US" sz="1300" dirty="0">
                <a:solidFill>
                  <a:srgbClr val="272525"/>
                </a:solidFill>
                <a:latin typeface="Inter" pitchFamily="34" charset="0"/>
                <a:ea typeface="Inter" pitchFamily="34" charset="-122"/>
                <a:cs typeface="Inter" pitchFamily="34" charset="-120"/>
              </a:rPr>
              <a:t> bằng Matplotlib.</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650776"/>
            <a:ext cx="689057" cy="176014"/>
          </a:xfrm>
          <a:prstGeom prst="roundRect">
            <a:avLst>
              <a:gd name="adj" fmla="val 22101"/>
            </a:avLst>
          </a:prstGeom>
          <a:solidFill>
            <a:srgbClr val="E8E8E3"/>
          </a:solidFill>
          <a:ln/>
        </p:spPr>
      </p:sp>
      <p:sp>
        <p:nvSpPr>
          <p:cNvPr id="3" name="Text 1"/>
          <p:cNvSpPr/>
          <p:nvPr/>
        </p:nvSpPr>
        <p:spPr>
          <a:xfrm>
            <a:off x="730926" y="685502"/>
            <a:ext cx="1159739" cy="106561"/>
          </a:xfrm>
          <a:prstGeom prst="rect">
            <a:avLst/>
          </a:prstGeom>
          <a:noFill/>
          <a:ln/>
        </p:spPr>
        <p:txBody>
          <a:bodyPr wrap="none" lIns="0" tIns="0" rIns="0" bIns="0" rtlCol="0" anchor="t"/>
          <a:lstStyle/>
          <a:p>
            <a:pPr algn="l" indent="0" marL="0">
              <a:lnSpc>
                <a:spcPct val="96000"/>
              </a:lnSpc>
              <a:buNone/>
            </a:pPr>
            <a:r>
              <a:rPr lang="en-US" sz="700" dirty="0">
                <a:solidFill>
                  <a:srgbClr val="272525"/>
                </a:solidFill>
                <a:latin typeface="Inter" pitchFamily="34" charset="0"/>
                <a:ea typeface="Inter" pitchFamily="34" charset="-122"/>
                <a:cs typeface="Inter" pitchFamily="34" charset="-120"/>
              </a:rPr>
              <a:t>WORKFLOW</a:t>
            </a:r>
            <a:endParaRPr lang="en-US" sz="700" dirty="0"/>
          </a:p>
        </p:txBody>
      </p:sp>
      <p:sp>
        <p:nvSpPr>
          <p:cNvPr id="4" name="Text 2"/>
          <p:cNvSpPr/>
          <p:nvPr/>
        </p:nvSpPr>
        <p:spPr>
          <a:xfrm>
            <a:off x="661475" y="859135"/>
            <a:ext cx="10868745" cy="361752"/>
          </a:xfrm>
          <a:prstGeom prst="rect">
            <a:avLst/>
          </a:prstGeom>
          <a:noFill/>
          <a:ln/>
        </p:spPr>
        <p:txBody>
          <a:bodyPr wrap="none" lIns="0" tIns="0" rIns="0" bIns="0" rtlCol="0" anchor="t"/>
          <a:lstStyle/>
          <a:p>
            <a:pPr algn="l" indent="0" marL="0">
              <a:lnSpc>
                <a:spcPct val="104000"/>
              </a:lnSpc>
              <a:buNone/>
            </a:pPr>
            <a:r>
              <a:rPr lang="en-US" sz="2250" dirty="0">
                <a:solidFill>
                  <a:srgbClr val="312F2B"/>
                </a:solidFill>
                <a:latin typeface="Inter" pitchFamily="34" charset="0"/>
                <a:ea typeface="Inter" pitchFamily="34" charset="-122"/>
                <a:cs typeface="Inter" pitchFamily="34" charset="-120"/>
              </a:rPr>
              <a:t>Flowchart mô phỏng (Simulation Workflow)</a:t>
            </a:r>
            <a:endParaRPr lang="en-US" sz="2250" dirty="0"/>
          </a:p>
        </p:txBody>
      </p:sp>
      <p:sp>
        <p:nvSpPr>
          <p:cNvPr id="5" name="Text 3"/>
          <p:cNvSpPr/>
          <p:nvPr/>
        </p:nvSpPr>
        <p:spPr>
          <a:xfrm>
            <a:off x="661475" y="1342430"/>
            <a:ext cx="10868745" cy="654546"/>
          </a:xfrm>
          <a:prstGeom prst="rect">
            <a:avLst/>
          </a:prstGeom>
          <a:noFill/>
          <a:ln/>
        </p:spPr>
        <p:txBody>
          <a:bodyPr wrap="square" lIns="0" tIns="0" rIns="0" bIns="0" rtlCol="0" anchor="t"/>
          <a:lstStyle/>
          <a:p>
            <a:pPr algn="l" indent="0" marL="0">
              <a:lnSpc>
                <a:spcPct val="113000"/>
              </a:lnSpc>
              <a:spcAft>
                <a:spcPts val="700"/>
              </a:spcAft>
              <a:buNone/>
            </a:pPr>
            <a:r>
              <a:rPr lang="en-US" sz="900" dirty="0">
                <a:solidFill>
                  <a:srgbClr val="272525"/>
                </a:solidFill>
                <a:latin typeface="Inter" pitchFamily="34" charset="0"/>
                <a:ea typeface="Inter" pitchFamily="34" charset="-122"/>
                <a:cs typeface="Inter" pitchFamily="34" charset="-120"/>
              </a:rPr>
              <a:t>Quy trình tự động hóa hoàn chỉnh từ khởi tạo tham số đến xuất kết quả cuối cùng, lặp lại cho từng giá trị E trong bộ khảo sát.</a:t>
            </a:r>
            <a:endParaRPr lang="en-US" sz="900" dirty="0"/>
          </a:p>
          <a:p>
            <a:pPr algn="l" indent="0" marL="0">
              <a:lnSpc>
                <a:spcPct val="113000"/>
              </a:lnSpc>
              <a:spcAft>
                <a:spcPts val="700"/>
              </a:spcAft>
              <a:buNone/>
            </a:pPr>
            <a:r>
              <a:rPr lang="en-US" sz="900" dirty="0">
                <a:solidFill>
                  <a:srgbClr val="272525"/>
                </a:solidFill>
                <a:latin typeface="Inter" pitchFamily="34" charset="0"/>
                <a:ea typeface="Inter" pitchFamily="34" charset="-122"/>
                <a:cs typeface="Inter" pitchFamily="34" charset="-120"/>
              </a:rPr>
              <a:t>Vòng lặp khảo sát tự động loại bỏ sai số thủ công và đảm bảo tính nhất quán dữ liệu giữa các kịch bản E = 100, 150, 200 kPa.</a:t>
            </a:r>
            <a:endParaRPr lang="en-US" sz="900" dirty="0"/>
          </a:p>
        </p:txBody>
      </p:sp>
      <p:pic>
        <p:nvPicPr>
          <p:cNvPr id="6" name="Image 0" descr="preencoded.png">    </p:cNvPr>
          <p:cNvPicPr>
            <a:picLocks noChangeAspect="1"/>
          </p:cNvPicPr>
          <p:nvPr/>
        </p:nvPicPr>
        <p:blipFill>
          <a:blip r:embed="rId1"/>
          <a:stretch>
            <a:fillRect/>
          </a:stretch>
        </p:blipFill>
        <p:spPr>
          <a:xfrm>
            <a:off x="4653243" y="2088059"/>
            <a:ext cx="2885110" cy="41191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642243"/>
            <a:ext cx="794524" cy="213717"/>
          </a:xfrm>
          <a:prstGeom prst="roundRect">
            <a:avLst>
              <a:gd name="adj" fmla="val 22102"/>
            </a:avLst>
          </a:prstGeom>
          <a:solidFill>
            <a:srgbClr val="E8E8E3"/>
          </a:solidFill>
          <a:ln/>
        </p:spPr>
      </p:sp>
      <p:sp>
        <p:nvSpPr>
          <p:cNvPr id="3" name="Text 1"/>
          <p:cNvSpPr/>
          <p:nvPr/>
        </p:nvSpPr>
        <p:spPr>
          <a:xfrm>
            <a:off x="745809" y="684411"/>
            <a:ext cx="1235441" cy="129381"/>
          </a:xfrm>
          <a:prstGeom prst="rect">
            <a:avLst/>
          </a:prstGeom>
          <a:noFill/>
          <a:ln/>
        </p:spPr>
        <p:txBody>
          <a:bodyPr wrap="none" lIns="0" tIns="0" rIns="0" bIns="0" rtlCol="0" anchor="t"/>
          <a:lstStyle/>
          <a:p>
            <a:pPr algn="l" indent="0" marL="0">
              <a:lnSpc>
                <a:spcPct val="96000"/>
              </a:lnSpc>
              <a:buNone/>
            </a:pPr>
            <a:r>
              <a:rPr lang="en-US" sz="850" dirty="0">
                <a:solidFill>
                  <a:srgbClr val="272525"/>
                </a:solidFill>
                <a:latin typeface="Inter" pitchFamily="34" charset="0"/>
                <a:ea typeface="Inter" pitchFamily="34" charset="-122"/>
                <a:cs typeface="Inter" pitchFamily="34" charset="-120"/>
              </a:rPr>
              <a:t>TRIỂN KHAI</a:t>
            </a:r>
            <a:endParaRPr lang="en-US" sz="850" dirty="0"/>
          </a:p>
        </p:txBody>
      </p:sp>
      <p:sp>
        <p:nvSpPr>
          <p:cNvPr id="4" name="Text 2"/>
          <p:cNvSpPr/>
          <p:nvPr/>
        </p:nvSpPr>
        <p:spPr>
          <a:xfrm>
            <a:off x="661475" y="903684"/>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312F2B"/>
                </a:solidFill>
                <a:latin typeface="Inter" pitchFamily="34" charset="0"/>
                <a:ea typeface="Inter" pitchFamily="34" charset="-122"/>
                <a:cs typeface="Inter" pitchFamily="34" charset="-120"/>
              </a:rPr>
              <a:t>Source Code chính (Core Implementation)</a:t>
            </a:r>
            <a:endParaRPr lang="en-US" sz="2750" dirty="0"/>
          </a:p>
        </p:txBody>
      </p:sp>
      <p:sp>
        <p:nvSpPr>
          <p:cNvPr id="5" name="Text 3"/>
          <p:cNvSpPr/>
          <p:nvPr/>
        </p:nvSpPr>
        <p:spPr>
          <a:xfrm>
            <a:off x="661475" y="1641574"/>
            <a:ext cx="5823499" cy="219571"/>
          </a:xfrm>
          <a:prstGeom prst="rect">
            <a:avLst/>
          </a:prstGeom>
          <a:noFill/>
          <a:ln/>
        </p:spPr>
        <p:txBody>
          <a:bodyPr wrap="none" lIns="0" tIns="0" rIns="0" bIns="0" rtlCol="0" anchor="t"/>
          <a:lstStyle/>
          <a:p>
            <a:pPr algn="l" indent="0" marL="0">
              <a:lnSpc>
                <a:spcPct val="104000"/>
              </a:lnSpc>
              <a:buNone/>
            </a:pPr>
            <a:r>
              <a:rPr lang="en-US" sz="1350" dirty="0">
                <a:solidFill>
                  <a:srgbClr val="312F2B"/>
                </a:solidFill>
                <a:latin typeface="Inter" pitchFamily="34" charset="0"/>
                <a:ea typeface="Inter" pitchFamily="34" charset="-122"/>
                <a:cs typeface="Inter" pitchFamily="34" charset="-120"/>
              </a:rPr>
              <a:t>Kiến trúc ba lớp tách biệt</a:t>
            </a:r>
            <a:endParaRPr lang="en-US" sz="13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995487"/>
            <a:ext cx="5823499" cy="1282303"/>
          </a:xfrm>
          <a:prstGeom prst="rect">
            <a:avLst/>
          </a:prstGeom>
        </p:spPr>
      </p:pic>
      <p:sp>
        <p:nvSpPr>
          <p:cNvPr id="7" name="Text 4"/>
          <p:cNvSpPr/>
          <p:nvPr/>
        </p:nvSpPr>
        <p:spPr>
          <a:xfrm>
            <a:off x="853061" y="2504877"/>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ter" pitchFamily="34" charset="0"/>
                <a:ea typeface="Inter" pitchFamily="34" charset="-122"/>
                <a:cs typeface="Inter" pitchFamily="34" charset="-120"/>
              </a:rPr>
              <a:t>1</a:t>
            </a:r>
            <a:endParaRPr lang="en-US" sz="1650" dirty="0"/>
          </a:p>
        </p:txBody>
      </p:sp>
      <p:sp>
        <p:nvSpPr>
          <p:cNvPr id="8" name="Text 5"/>
          <p:cNvSpPr/>
          <p:nvPr/>
        </p:nvSpPr>
        <p:spPr>
          <a:xfrm>
            <a:off x="1362239" y="2155031"/>
            <a:ext cx="4963195" cy="219571"/>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Inter" pitchFamily="34" charset="0"/>
                <a:ea typeface="Inter" pitchFamily="34" charset="-122"/>
                <a:cs typeface="Inter" pitchFamily="34" charset="-120"/>
              </a:rPr>
              <a:t>config.py — Lớp cấu hình</a:t>
            </a:r>
            <a:endParaRPr lang="en-US" sz="1350" dirty="0"/>
          </a:p>
        </p:txBody>
      </p:sp>
      <p:sp>
        <p:nvSpPr>
          <p:cNvPr id="9" name="Text 6"/>
          <p:cNvSpPr/>
          <p:nvPr/>
        </p:nvSpPr>
        <p:spPr>
          <a:xfrm>
            <a:off x="1362239" y="2494062"/>
            <a:ext cx="4963195"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Quản lý tập trung tất cả biến số vật lý và hình học. Thay đổi kịch bản mô phỏng chỉ cần sửa một file duy nhất mà không động đến code mô hình hay điều khiển. Đảm bảo tính tái sử dụng và tránh lỗi hardcode.</a:t>
            </a:r>
            <a:endParaRPr lang="en-US" sz="11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397250"/>
            <a:ext cx="5823499" cy="1282303"/>
          </a:xfrm>
          <a:prstGeom prst="rect">
            <a:avLst/>
          </a:prstGeom>
        </p:spPr>
      </p:pic>
      <p:sp>
        <p:nvSpPr>
          <p:cNvPr id="11" name="Text 7"/>
          <p:cNvSpPr/>
          <p:nvPr/>
        </p:nvSpPr>
        <p:spPr>
          <a:xfrm>
            <a:off x="853061" y="390663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ter" pitchFamily="34" charset="0"/>
                <a:ea typeface="Inter" pitchFamily="34" charset="-122"/>
                <a:cs typeface="Inter" pitchFamily="34" charset="-120"/>
              </a:rPr>
              <a:t>2</a:t>
            </a:r>
            <a:endParaRPr lang="en-US" sz="1650" dirty="0"/>
          </a:p>
        </p:txBody>
      </p:sp>
      <p:sp>
        <p:nvSpPr>
          <p:cNvPr id="12" name="Text 8"/>
          <p:cNvSpPr/>
          <p:nvPr/>
        </p:nvSpPr>
        <p:spPr>
          <a:xfrm>
            <a:off x="1362239" y="3556794"/>
            <a:ext cx="4963195" cy="219571"/>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Inter" pitchFamily="34" charset="0"/>
                <a:ea typeface="Inter" pitchFamily="34" charset="-122"/>
                <a:cs typeface="Inter" pitchFamily="34" charset="-120"/>
              </a:rPr>
              <a:t>finger_model.py — Lớp mô hình</a:t>
            </a:r>
            <a:endParaRPr lang="en-US" sz="1350" dirty="0"/>
          </a:p>
        </p:txBody>
      </p:sp>
      <p:sp>
        <p:nvSpPr>
          <p:cNvPr id="13" name="Text 9"/>
          <p:cNvSpPr/>
          <p:nvPr/>
        </p:nvSpPr>
        <p:spPr>
          <a:xfrm>
            <a:off x="1362239" y="3895824"/>
            <a:ext cx="4963195"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Dựng Node Tree đầy đủ với </a:t>
            </a:r>
            <a:pPr algn="l" indent="0" marL="0">
              <a:lnSpc>
                <a:spcPct val="123000"/>
              </a:lnSpc>
              <a:buNone/>
            </a:pPr>
            <a:r>
              <a:rPr lang="en-US" sz="1100" b="1" dirty="0">
                <a:solidFill>
                  <a:srgbClr val="272525"/>
                </a:solidFill>
                <a:latin typeface="Inter Bold" pitchFamily="34" charset="0"/>
                <a:ea typeface="Inter Bold" pitchFamily="34" charset="-122"/>
                <a:cs typeface="Inter Bold" pitchFamily="34" charset="-120"/>
              </a:rPr>
              <a:t>EulerImplicitSolver</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(tích phân ngầm ổn định), </a:t>
            </a:r>
            <a:pPr algn="l" indent="0" marL="0">
              <a:lnSpc>
                <a:spcPct val="123000"/>
              </a:lnSpc>
              <a:buNone/>
            </a:pPr>
            <a:r>
              <a:rPr lang="en-US" sz="1100" b="1" dirty="0">
                <a:solidFill>
                  <a:srgbClr val="272525"/>
                </a:solidFill>
                <a:latin typeface="Inter Bold" pitchFamily="34" charset="0"/>
                <a:ea typeface="Inter Bold" pitchFamily="34" charset="-122"/>
                <a:cs typeface="Inter Bold" pitchFamily="34" charset="-120"/>
              </a:rPr>
              <a:t>SparseLDLSolver</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(giải hệ tuyến tính thưa), FEM ForceField và </a:t>
            </a:r>
            <a:pPr algn="l" indent="0" marL="0">
              <a:lnSpc>
                <a:spcPct val="123000"/>
              </a:lnSpc>
              <a:buNone/>
            </a:pPr>
            <a:r>
              <a:rPr lang="en-US" sz="1100" b="1" dirty="0">
                <a:solidFill>
                  <a:srgbClr val="272525"/>
                </a:solidFill>
                <a:latin typeface="Inter Bold" pitchFamily="34" charset="0"/>
                <a:ea typeface="Inter Bold" pitchFamily="34" charset="-122"/>
                <a:cs typeface="Inter Bold" pitchFamily="34" charset="-120"/>
              </a:rPr>
              <a:t>VTKExporter(hexas=True)</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xuất lưới Hexahedron theo từng bước thời gian.</a:t>
            </a:r>
            <a:endParaRPr lang="en-US" sz="1100" dirty="0"/>
          </a:p>
        </p:txBody>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799013"/>
            <a:ext cx="5823499" cy="1282303"/>
          </a:xfrm>
          <a:prstGeom prst="rect">
            <a:avLst/>
          </a:prstGeom>
        </p:spPr>
      </p:pic>
      <p:sp>
        <p:nvSpPr>
          <p:cNvPr id="15" name="Text 10"/>
          <p:cNvSpPr/>
          <p:nvPr/>
        </p:nvSpPr>
        <p:spPr>
          <a:xfrm>
            <a:off x="853061" y="5308402"/>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000000"/>
                </a:solidFill>
                <a:latin typeface="Inter" pitchFamily="34" charset="0"/>
                <a:ea typeface="Inter" pitchFamily="34" charset="-122"/>
                <a:cs typeface="Inter" pitchFamily="34" charset="-120"/>
              </a:rPr>
              <a:t>3</a:t>
            </a:r>
            <a:endParaRPr lang="en-US" sz="1650" dirty="0"/>
          </a:p>
        </p:txBody>
      </p:sp>
      <p:sp>
        <p:nvSpPr>
          <p:cNvPr id="16" name="Text 11"/>
          <p:cNvSpPr/>
          <p:nvPr/>
        </p:nvSpPr>
        <p:spPr>
          <a:xfrm>
            <a:off x="1362239" y="4958556"/>
            <a:ext cx="4963195" cy="219571"/>
          </a:xfrm>
          <a:prstGeom prst="rect">
            <a:avLst/>
          </a:prstGeom>
          <a:noFill/>
          <a:ln/>
        </p:spPr>
        <p:txBody>
          <a:bodyPr wrap="none" lIns="0" tIns="0" rIns="0" bIns="0" rtlCol="0" anchor="t"/>
          <a:lstStyle/>
          <a:p>
            <a:pPr algn="l" indent="0" marL="0">
              <a:lnSpc>
                <a:spcPct val="104000"/>
              </a:lnSpc>
              <a:buNone/>
            </a:pPr>
            <a:r>
              <a:rPr lang="en-US" sz="1350" dirty="0">
                <a:solidFill>
                  <a:srgbClr val="272525"/>
                </a:solidFill>
                <a:latin typeface="Inter" pitchFamily="34" charset="0"/>
                <a:ea typeface="Inter" pitchFamily="34" charset="-122"/>
                <a:cs typeface="Inter" pitchFamily="34" charset="-120"/>
              </a:rPr>
              <a:t>main.py — Lớp điều khiển</a:t>
            </a:r>
            <a:endParaRPr lang="en-US" sz="1350" dirty="0"/>
          </a:p>
        </p:txBody>
      </p:sp>
      <p:sp>
        <p:nvSpPr>
          <p:cNvPr id="17" name="Text 12"/>
          <p:cNvSpPr/>
          <p:nvPr/>
        </p:nvSpPr>
        <p:spPr>
          <a:xfrm>
            <a:off x="1362239" y="5297587"/>
            <a:ext cx="4963195" cy="624185"/>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Tự động chạy 3 chu kỳ mô phỏng nối tiếp tương ứng 3 giá trị E. Thu thập dữ liệu chuyển vị đầu mút theo từng bước animate, tổng hợp và vẽ đồ thị so sánh tự động không cần hậu xử lý thủ công.</a:t>
            </a:r>
            <a:endParaRPr lang="en-US" sz="1100" dirty="0"/>
          </a:p>
        </p:txBody>
      </p:sp>
      <p:sp>
        <p:nvSpPr>
          <p:cNvPr id="18" name="Shape 13"/>
          <p:cNvSpPr/>
          <p:nvPr/>
        </p:nvSpPr>
        <p:spPr>
          <a:xfrm>
            <a:off x="6733014" y="1522115"/>
            <a:ext cx="4904657" cy="4693543"/>
          </a:xfrm>
          <a:prstGeom prst="roundRect">
            <a:avLst>
              <a:gd name="adj" fmla="val 2157"/>
            </a:avLst>
          </a:prstGeom>
          <a:solidFill>
            <a:srgbClr val="F9D933">
              <a:alpha val="95000"/>
            </a:srgbClr>
          </a:solidFill>
          <a:ln/>
        </p:spPr>
      </p:sp>
      <p:sp>
        <p:nvSpPr>
          <p:cNvPr id="19" name="Text 14"/>
          <p:cNvSpPr/>
          <p:nvPr/>
        </p:nvSpPr>
        <p:spPr>
          <a:xfrm>
            <a:off x="6873505" y="1641574"/>
            <a:ext cx="4623677" cy="219571"/>
          </a:xfrm>
          <a:prstGeom prst="rect">
            <a:avLst/>
          </a:prstGeom>
          <a:noFill/>
          <a:ln/>
        </p:spPr>
        <p:txBody>
          <a:bodyPr wrap="none" lIns="0" tIns="0" rIns="0" bIns="0" rtlCol="0" anchor="t"/>
          <a:lstStyle/>
          <a:p>
            <a:pPr algn="l" indent="0" marL="0">
              <a:lnSpc>
                <a:spcPct val="104000"/>
              </a:lnSpc>
              <a:buNone/>
            </a:pPr>
            <a:r>
              <a:rPr lang="en-US" sz="1350" dirty="0">
                <a:solidFill>
                  <a:srgbClr val="312F2B"/>
                </a:solidFill>
                <a:latin typeface="Inter" pitchFamily="34" charset="0"/>
                <a:ea typeface="Inter" pitchFamily="34" charset="-122"/>
                <a:cs typeface="Inter" pitchFamily="34" charset="-120"/>
              </a:rPr>
              <a:t>Các thành phần SOFA quan trọng</a:t>
            </a:r>
            <a:endParaRPr lang="en-US" sz="1350" dirty="0"/>
          </a:p>
        </p:txBody>
      </p:sp>
      <p:sp>
        <p:nvSpPr>
          <p:cNvPr id="20" name="Text 15"/>
          <p:cNvSpPr/>
          <p:nvPr/>
        </p:nvSpPr>
        <p:spPr>
          <a:xfrm>
            <a:off x="6873505" y="1980605"/>
            <a:ext cx="4623677" cy="2510433"/>
          </a:xfrm>
          <a:prstGeom prst="rect">
            <a:avLst/>
          </a:prstGeom>
          <a:noFill/>
          <a:ln/>
        </p:spPr>
        <p:txBody>
          <a:bodyPr wrap="square" lIns="0" tIns="0" rIns="0" bIns="0" rtlCol="0" anchor="t">
            <a:normAutofit/>
          </a:bodyPr>
          <a:lstStyle/>
          <a:p>
            <a:pPr algn="l" indent="0" marL="0">
              <a:lnSpc>
                <a:spcPct val="123000"/>
              </a:lnSpc>
              <a:spcAft>
                <a:spcPts val="800"/>
              </a:spcAft>
              <a:buNone/>
            </a:pPr>
            <a:r>
              <a:rPr lang="en-US" sz="1100" b="1" dirty="0">
                <a:solidFill>
                  <a:srgbClr val="272525"/>
                </a:solidFill>
                <a:latin typeface="Inter Bold" pitchFamily="34" charset="0"/>
                <a:ea typeface="Inter Bold" pitchFamily="34" charset="-122"/>
                <a:cs typeface="Inter Bold" pitchFamily="34" charset="-120"/>
              </a:rPr>
              <a:t>EulerImplicitSolver:</a:t>
            </a:r>
            <a:pPr algn="l" indent="0" marL="0">
              <a:lnSpc>
                <a:spcPct val="123000"/>
              </a:lnSpc>
              <a:spcAft>
                <a:spcPts val="800"/>
              </a:spcAft>
              <a:buNone/>
            </a:pPr>
            <a:r>
              <a:rPr lang="en-US" sz="1100" dirty="0">
                <a:solidFill>
                  <a:srgbClr val="272525"/>
                </a:solidFill>
                <a:latin typeface="Inter" pitchFamily="34" charset="0"/>
                <a:ea typeface="Inter" pitchFamily="34" charset="-122"/>
                <a:cs typeface="Inter" pitchFamily="34" charset="-120"/>
              </a:rPr>
              <a:t> Tích phân thời gian ngầm — ổn định với bước thời gian lớn, phù hợp vật liệu mềm</a:t>
            </a:r>
            <a:endParaRPr lang="en-US" sz="1100" dirty="0"/>
          </a:p>
          <a:p>
            <a:pPr algn="l" indent="0" marL="0">
              <a:lnSpc>
                <a:spcPct val="123000"/>
              </a:lnSpc>
              <a:spcAft>
                <a:spcPts val="800"/>
              </a:spcAft>
              <a:buNone/>
            </a:pPr>
            <a:r>
              <a:rPr lang="en-US" sz="1100" b="1" dirty="0">
                <a:solidFill>
                  <a:srgbClr val="272525"/>
                </a:solidFill>
                <a:latin typeface="Inter Bold" pitchFamily="34" charset="0"/>
                <a:ea typeface="Inter Bold" pitchFamily="34" charset="-122"/>
                <a:cs typeface="Inter Bold" pitchFamily="34" charset="-120"/>
              </a:rPr>
              <a:t>SparseLDLSolver:</a:t>
            </a:r>
            <a:pPr algn="l" indent="0" marL="0">
              <a:lnSpc>
                <a:spcPct val="123000"/>
              </a:lnSpc>
              <a:spcAft>
                <a:spcPts val="800"/>
              </a:spcAft>
              <a:buNone/>
            </a:pPr>
            <a:r>
              <a:rPr lang="en-US" sz="1100" dirty="0">
                <a:solidFill>
                  <a:srgbClr val="272525"/>
                </a:solidFill>
                <a:latin typeface="Inter" pitchFamily="34" charset="0"/>
                <a:ea typeface="Inter" pitchFamily="34" charset="-122"/>
                <a:cs typeface="Inter" pitchFamily="34" charset="-120"/>
              </a:rPr>
              <a:t> Giải hệ ma trận thưa — hiệu quả cho lưới FEM quy mô vừa</a:t>
            </a:r>
            <a:endParaRPr lang="en-US" sz="1100" dirty="0"/>
          </a:p>
          <a:p>
            <a:pPr algn="l" indent="0" marL="0">
              <a:lnSpc>
                <a:spcPct val="123000"/>
              </a:lnSpc>
              <a:spcAft>
                <a:spcPts val="800"/>
              </a:spcAft>
              <a:buNone/>
            </a:pPr>
            <a:r>
              <a:rPr lang="en-US" sz="1100" b="1" dirty="0">
                <a:solidFill>
                  <a:srgbClr val="272525"/>
                </a:solidFill>
                <a:latin typeface="Inter Bold" pitchFamily="34" charset="0"/>
                <a:ea typeface="Inter Bold" pitchFamily="34" charset="-122"/>
                <a:cs typeface="Inter Bold" pitchFamily="34" charset="-120"/>
              </a:rPr>
              <a:t>BarycentricMapping:</a:t>
            </a:r>
            <a:pPr algn="l" indent="0" marL="0">
              <a:lnSpc>
                <a:spcPct val="123000"/>
              </a:lnSpc>
              <a:spcAft>
                <a:spcPts val="800"/>
              </a:spcAft>
              <a:buNone/>
            </a:pPr>
            <a:r>
              <a:rPr lang="en-US" sz="1100" dirty="0">
                <a:solidFill>
                  <a:srgbClr val="272525"/>
                </a:solidFill>
                <a:latin typeface="Inter" pitchFamily="34" charset="0"/>
                <a:ea typeface="Inter" pitchFamily="34" charset="-122"/>
                <a:cs typeface="Inter" pitchFamily="34" charset="-120"/>
              </a:rPr>
              <a:t> Nhúng cáp vào lưới FEM — truyền lực ràng buộc chính xác</a:t>
            </a:r>
            <a:endParaRPr lang="en-US" sz="1100" dirty="0"/>
          </a:p>
          <a:p>
            <a:pPr algn="l" indent="0" marL="0">
              <a:lnSpc>
                <a:spcPct val="123000"/>
              </a:lnSpc>
              <a:spcAft>
                <a:spcPts val="800"/>
              </a:spcAft>
              <a:buNone/>
            </a:pPr>
            <a:r>
              <a:rPr lang="en-US" sz="1100" b="1" dirty="0">
                <a:solidFill>
                  <a:srgbClr val="272525"/>
                </a:solidFill>
                <a:latin typeface="Inter Bold" pitchFamily="34" charset="0"/>
                <a:ea typeface="Inter Bold" pitchFamily="34" charset="-122"/>
                <a:cs typeface="Inter Bold" pitchFamily="34" charset="-120"/>
              </a:rPr>
              <a:t>VTKExporter:</a:t>
            </a:r>
            <a:pPr algn="l" indent="0" marL="0">
              <a:lnSpc>
                <a:spcPct val="123000"/>
              </a:lnSpc>
              <a:spcAft>
                <a:spcPts val="800"/>
              </a:spcAft>
              <a:buNone/>
            </a:pPr>
            <a:r>
              <a:rPr lang="en-US" sz="1100" dirty="0">
                <a:solidFill>
                  <a:srgbClr val="272525"/>
                </a:solidFill>
                <a:latin typeface="Inter" pitchFamily="34" charset="0"/>
                <a:ea typeface="Inter" pitchFamily="34" charset="-122"/>
                <a:cs typeface="Inter" pitchFamily="34" charset="-120"/>
              </a:rPr>
              <a:t> Xuất trạng thái lưới Hexahedron sang .vtu tại mỗi bước thời gian cho phân tích ParaView</a:t>
            </a:r>
            <a:endParaRPr lang="en-US" sz="1100" dirty="0"/>
          </a:p>
          <a:p>
            <a:pPr algn="l" indent="0" marL="0">
              <a:lnSpc>
                <a:spcPct val="123000"/>
              </a:lnSpc>
              <a:buNone/>
            </a:pPr>
            <a:r>
              <a:rPr lang="en-US" sz="1100" b="1" dirty="0">
                <a:solidFill>
                  <a:srgbClr val="272525"/>
                </a:solidFill>
                <a:latin typeface="Inter Bold" pitchFamily="34" charset="0"/>
                <a:ea typeface="Inter Bold" pitchFamily="34" charset="-122"/>
                <a:cs typeface="Inter Bold" pitchFamily="34" charset="-120"/>
              </a:rPr>
              <a:t>CableConstraint:</a:t>
            </a:r>
            <a:pPr algn="l" indent="0" marL="0">
              <a:lnSpc>
                <a:spcPct val="123000"/>
              </a:lnSpc>
              <a:buNone/>
            </a:pPr>
            <a:r>
              <a:rPr lang="en-US" sz="1100" dirty="0">
                <a:solidFill>
                  <a:srgbClr val="272525"/>
                </a:solidFill>
                <a:latin typeface="Inter" pitchFamily="34" charset="0"/>
                <a:ea typeface="Inter" pitchFamily="34" charset="-122"/>
                <a:cs typeface="Inter" pitchFamily="34" charset="-120"/>
              </a:rPr>
              <a:t> Mô hình ràng buộc cáp một chiều — chỉ kéo, không đẩy</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572095"/>
            <a:ext cx="582896" cy="188516"/>
          </a:xfrm>
          <a:prstGeom prst="roundRect">
            <a:avLst>
              <a:gd name="adj" fmla="val 22109"/>
            </a:avLst>
          </a:prstGeom>
          <a:solidFill>
            <a:srgbClr val="E8E8E3"/>
          </a:solidFill>
          <a:ln/>
        </p:spPr>
      </p:sp>
      <p:sp>
        <p:nvSpPr>
          <p:cNvPr id="3" name="Text 1"/>
          <p:cNvSpPr/>
          <p:nvPr/>
        </p:nvSpPr>
        <p:spPr>
          <a:xfrm>
            <a:off x="735887" y="609302"/>
            <a:ext cx="1043656" cy="114102"/>
          </a:xfrm>
          <a:prstGeom prst="rect">
            <a:avLst/>
          </a:prstGeom>
          <a:noFill/>
          <a:ln/>
        </p:spPr>
        <p:txBody>
          <a:bodyPr wrap="none" lIns="0" tIns="0" rIns="0" bIns="0" rtlCol="0" anchor="t"/>
          <a:lstStyle/>
          <a:p>
            <a:pPr algn="l" indent="0" marL="0">
              <a:lnSpc>
                <a:spcPct val="96000"/>
              </a:lnSpc>
              <a:buNone/>
            </a:pPr>
            <a:r>
              <a:rPr lang="en-US" sz="750" dirty="0">
                <a:solidFill>
                  <a:srgbClr val="272525"/>
                </a:solidFill>
                <a:latin typeface="Inter" pitchFamily="34" charset="0"/>
                <a:ea typeface="Inter" pitchFamily="34" charset="-122"/>
                <a:cs typeface="Inter" pitchFamily="34" charset="-120"/>
              </a:rPr>
              <a:t>KẾT QUẢ</a:t>
            </a:r>
            <a:endParaRPr lang="en-US" sz="750" dirty="0"/>
          </a:p>
        </p:txBody>
      </p:sp>
      <p:sp>
        <p:nvSpPr>
          <p:cNvPr id="4" name="Text 2"/>
          <p:cNvSpPr/>
          <p:nvPr/>
        </p:nvSpPr>
        <p:spPr>
          <a:xfrm>
            <a:off x="661475" y="797818"/>
            <a:ext cx="10868745" cy="387648"/>
          </a:xfrm>
          <a:prstGeom prst="rect">
            <a:avLst/>
          </a:prstGeom>
          <a:noFill/>
          <a:ln/>
        </p:spPr>
        <p:txBody>
          <a:bodyPr wrap="none" lIns="0" tIns="0" rIns="0" bIns="0" rtlCol="0" anchor="t"/>
          <a:lstStyle/>
          <a:p>
            <a:pPr algn="l" indent="0" marL="0">
              <a:lnSpc>
                <a:spcPct val="104000"/>
              </a:lnSpc>
              <a:buNone/>
            </a:pPr>
            <a:r>
              <a:rPr lang="en-US" sz="2400" dirty="0">
                <a:solidFill>
                  <a:srgbClr val="312F2B"/>
                </a:solidFill>
                <a:latin typeface="Inter" pitchFamily="34" charset="0"/>
                <a:ea typeface="Inter" pitchFamily="34" charset="-122"/>
                <a:cs typeface="Inter" pitchFamily="34" charset="-120"/>
              </a:rPr>
              <a:t>Kết quả mô phỏng (3D Visualization &amp; Data Output)</a:t>
            </a:r>
            <a:endParaRPr lang="en-US" sz="24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324967"/>
            <a:ext cx="310051" cy="310059"/>
          </a:xfrm>
          <a:prstGeom prst="rect">
            <a:avLst/>
          </a:prstGeom>
        </p:spPr>
      </p:pic>
      <p:sp>
        <p:nvSpPr>
          <p:cNvPr id="6" name="Text 3"/>
          <p:cNvSpPr/>
          <p:nvPr/>
        </p:nvSpPr>
        <p:spPr>
          <a:xfrm>
            <a:off x="661475" y="1751310"/>
            <a:ext cx="3545394" cy="193774"/>
          </a:xfrm>
          <a:prstGeom prst="rect">
            <a:avLst/>
          </a:prstGeom>
          <a:noFill/>
          <a:ln/>
        </p:spPr>
        <p:txBody>
          <a:bodyPr wrap="none" lIns="0" tIns="0" rIns="0" bIns="0" rtlCol="0" anchor="t"/>
          <a:lstStyle/>
          <a:p>
            <a:pPr algn="l" indent="0" marL="0">
              <a:lnSpc>
                <a:spcPct val="104000"/>
              </a:lnSpc>
              <a:buNone/>
            </a:pPr>
            <a:r>
              <a:rPr lang="en-US" sz="1200" dirty="0">
                <a:solidFill>
                  <a:srgbClr val="272525"/>
                </a:solidFill>
                <a:latin typeface="Inter" pitchFamily="34" charset="0"/>
                <a:ea typeface="Inter" pitchFamily="34" charset="-122"/>
                <a:cs typeface="Inter" pitchFamily="34" charset="-120"/>
              </a:rPr>
              <a:t>Xuất dữ liệu 3D (VTK)</a:t>
            </a:r>
            <a:endParaRPr lang="en-US" sz="1200" dirty="0"/>
          </a:p>
        </p:txBody>
      </p:sp>
      <p:sp>
        <p:nvSpPr>
          <p:cNvPr id="7" name="Text 4"/>
          <p:cNvSpPr/>
          <p:nvPr/>
        </p:nvSpPr>
        <p:spPr>
          <a:xfrm>
            <a:off x="661475" y="2000845"/>
            <a:ext cx="3545394" cy="694531"/>
          </a:xfrm>
          <a:prstGeom prst="rect">
            <a:avLst/>
          </a:prstGeom>
          <a:noFill/>
          <a:ln/>
        </p:spPr>
        <p:txBody>
          <a:bodyPr wrap="square" lIns="0" tIns="0" rIns="0" bIns="0" rtlCol="0" anchor="t">
            <a:normAutofit/>
          </a:bodyPr>
          <a:lstStyle/>
          <a:p>
            <a:pPr algn="l" indent="0" marL="0">
              <a:lnSpc>
                <a:spcPct val="117000"/>
              </a:lnSpc>
              <a:buNone/>
            </a:pPr>
            <a:r>
              <a:rPr lang="en-US" sz="950" b="1" dirty="0">
                <a:solidFill>
                  <a:srgbClr val="272525"/>
                </a:solidFill>
                <a:latin typeface="Inter Bold" pitchFamily="34" charset="0"/>
                <a:ea typeface="Inter Bold" pitchFamily="34" charset="-122"/>
                <a:cs typeface="Inter Bold" pitchFamily="34" charset="-120"/>
              </a:rPr>
              <a:t>VTKExporter</a:t>
            </a:r>
            <a:pPr algn="l" indent="0" marL="0">
              <a:lnSpc>
                <a:spcPct val="117000"/>
              </a:lnSpc>
              <a:buNone/>
            </a:pPr>
            <a:r>
              <a:rPr lang="en-US" sz="950" dirty="0">
                <a:solidFill>
                  <a:srgbClr val="272525"/>
                </a:solidFill>
                <a:latin typeface="Inter" pitchFamily="34" charset="0"/>
                <a:ea typeface="Inter" pitchFamily="34" charset="-122"/>
                <a:cs typeface="Inter" pitchFamily="34" charset="-120"/>
              </a:rPr>
              <a:t> ghi nhận trạng thái biến dạng của toàn bộ lưới Hexahedron tại mỗi bước thời gian. File </a:t>
            </a:r>
            <a:pPr algn="l" indent="0" marL="0">
              <a:lnSpc>
                <a:spcPct val="117000"/>
              </a:lnSpc>
              <a:buNone/>
            </a:pPr>
            <a:r>
              <a:rPr lang="en-US" sz="950" b="1" dirty="0">
                <a:solidFill>
                  <a:srgbClr val="272525"/>
                </a:solidFill>
                <a:latin typeface="Inter Bold" pitchFamily="34" charset="0"/>
                <a:ea typeface="Inter Bold" pitchFamily="34" charset="-122"/>
                <a:cs typeface="Inter Bold" pitchFamily="34" charset="-120"/>
              </a:rPr>
              <a:t>.vtu</a:t>
            </a:r>
            <a:pPr algn="l" indent="0" marL="0">
              <a:lnSpc>
                <a:spcPct val="117000"/>
              </a:lnSpc>
              <a:buNone/>
            </a:pPr>
            <a:r>
              <a:rPr lang="en-US" sz="950" dirty="0">
                <a:solidFill>
                  <a:srgbClr val="272525"/>
                </a:solidFill>
                <a:latin typeface="Inter" pitchFamily="34" charset="0"/>
                <a:ea typeface="Inter" pitchFamily="34" charset="-122"/>
                <a:cs typeface="Inter" pitchFamily="34" charset="-120"/>
              </a:rPr>
              <a:t> lưu đầy đủ tọa độ nút, kết nối phần tử và trường vectơ chuyển vị. Chuỗi file theo thời gian tạo thành animation biến dạng hoàn chỉnh.</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23150" y="1324967"/>
            <a:ext cx="310051" cy="310059"/>
          </a:xfrm>
          <a:prstGeom prst="rect">
            <a:avLst/>
          </a:prstGeom>
        </p:spPr>
      </p:pic>
      <p:sp>
        <p:nvSpPr>
          <p:cNvPr id="9" name="Text 5"/>
          <p:cNvSpPr/>
          <p:nvPr/>
        </p:nvSpPr>
        <p:spPr>
          <a:xfrm>
            <a:off x="4323150" y="1751310"/>
            <a:ext cx="3545394" cy="193774"/>
          </a:xfrm>
          <a:prstGeom prst="rect">
            <a:avLst/>
          </a:prstGeom>
          <a:noFill/>
          <a:ln/>
        </p:spPr>
        <p:txBody>
          <a:bodyPr wrap="none" lIns="0" tIns="0" rIns="0" bIns="0" rtlCol="0" anchor="t"/>
          <a:lstStyle/>
          <a:p>
            <a:pPr algn="l" indent="0" marL="0">
              <a:lnSpc>
                <a:spcPct val="104000"/>
              </a:lnSpc>
              <a:buNone/>
            </a:pPr>
            <a:r>
              <a:rPr lang="en-US" sz="1200" dirty="0">
                <a:solidFill>
                  <a:srgbClr val="272525"/>
                </a:solidFill>
                <a:latin typeface="Inter" pitchFamily="34" charset="0"/>
                <a:ea typeface="Inter" pitchFamily="34" charset="-122"/>
                <a:cs typeface="Inter" pitchFamily="34" charset="-120"/>
              </a:rPr>
              <a:t>Trực quan hóa ParaView</a:t>
            </a:r>
            <a:endParaRPr lang="en-US" sz="1200" dirty="0"/>
          </a:p>
        </p:txBody>
      </p:sp>
      <p:sp>
        <p:nvSpPr>
          <p:cNvPr id="10" name="Text 6"/>
          <p:cNvSpPr/>
          <p:nvPr/>
        </p:nvSpPr>
        <p:spPr>
          <a:xfrm>
            <a:off x="4323150" y="2000845"/>
            <a:ext cx="3545394" cy="694531"/>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272525"/>
                </a:solidFill>
                <a:latin typeface="Inter" pitchFamily="34" charset="0"/>
                <a:ea typeface="Inter" pitchFamily="34" charset="-122"/>
                <a:cs typeface="Inter" pitchFamily="34" charset="-120"/>
              </a:rPr>
              <a:t>Mở file </a:t>
            </a:r>
            <a:pPr algn="l" indent="0" marL="0">
              <a:lnSpc>
                <a:spcPct val="117000"/>
              </a:lnSpc>
              <a:buNone/>
            </a:pPr>
            <a:r>
              <a:rPr lang="en-US" sz="950" b="1" dirty="0">
                <a:solidFill>
                  <a:srgbClr val="272525"/>
                </a:solidFill>
                <a:latin typeface="Inter Bold" pitchFamily="34" charset="0"/>
                <a:ea typeface="Inter Bold" pitchFamily="34" charset="-122"/>
                <a:cs typeface="Inter Bold" pitchFamily="34" charset="-120"/>
              </a:rPr>
              <a:t>.vtu</a:t>
            </a:r>
            <a:pPr algn="l" indent="0" marL="0">
              <a:lnSpc>
                <a:spcPct val="117000"/>
              </a:lnSpc>
              <a:buNone/>
            </a:pPr>
            <a:r>
              <a:rPr lang="en-US" sz="950" dirty="0">
                <a:solidFill>
                  <a:srgbClr val="272525"/>
                </a:solidFill>
                <a:latin typeface="Inter" pitchFamily="34" charset="0"/>
                <a:ea typeface="Inter" pitchFamily="34" charset="-122"/>
                <a:cs typeface="Inter" pitchFamily="34" charset="-120"/>
              </a:rPr>
              <a:t> trong ParaView v6.2.0 để quan sát chuyển động uốn cong 3D theo thời gian thực và phân tích trường ứng suất. Color map hiển thị vùng tập trung ứng suất tại điểm neo cáp và vùng biến dạng lớn tại đầu ngón tay.</a:t>
            </a:r>
            <a:endParaRPr lang="en-US"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84826" y="1324967"/>
            <a:ext cx="310051" cy="310059"/>
          </a:xfrm>
          <a:prstGeom prst="rect">
            <a:avLst/>
          </a:prstGeom>
        </p:spPr>
      </p:pic>
      <p:sp>
        <p:nvSpPr>
          <p:cNvPr id="12" name="Text 7"/>
          <p:cNvSpPr/>
          <p:nvPr/>
        </p:nvSpPr>
        <p:spPr>
          <a:xfrm>
            <a:off x="7984826" y="1751310"/>
            <a:ext cx="3545394" cy="193774"/>
          </a:xfrm>
          <a:prstGeom prst="rect">
            <a:avLst/>
          </a:prstGeom>
          <a:noFill/>
          <a:ln/>
        </p:spPr>
        <p:txBody>
          <a:bodyPr wrap="none" lIns="0" tIns="0" rIns="0" bIns="0" rtlCol="0" anchor="t"/>
          <a:lstStyle/>
          <a:p>
            <a:pPr algn="l" indent="0" marL="0">
              <a:lnSpc>
                <a:spcPct val="104000"/>
              </a:lnSpc>
              <a:buNone/>
            </a:pPr>
            <a:r>
              <a:rPr lang="en-US" sz="1200" dirty="0">
                <a:solidFill>
                  <a:srgbClr val="272525"/>
                </a:solidFill>
                <a:latin typeface="Inter" pitchFamily="34" charset="0"/>
                <a:ea typeface="Inter" pitchFamily="34" charset="-122"/>
                <a:cs typeface="Inter" pitchFamily="34" charset="-120"/>
              </a:rPr>
              <a:t>Thu thập Tip Displacement</a:t>
            </a:r>
            <a:endParaRPr lang="en-US" sz="1200" dirty="0"/>
          </a:p>
        </p:txBody>
      </p:sp>
      <p:sp>
        <p:nvSpPr>
          <p:cNvPr id="13" name="Text 8"/>
          <p:cNvSpPr/>
          <p:nvPr/>
        </p:nvSpPr>
        <p:spPr>
          <a:xfrm>
            <a:off x="7984826" y="2000845"/>
            <a:ext cx="3545394" cy="868164"/>
          </a:xfrm>
          <a:prstGeom prst="rect">
            <a:avLst/>
          </a:prstGeom>
          <a:noFill/>
          <a:ln/>
        </p:spPr>
        <p:txBody>
          <a:bodyPr wrap="square" lIns="0" tIns="0" rIns="0" bIns="0" rtlCol="0" anchor="t">
            <a:normAutofit/>
          </a:bodyPr>
          <a:lstStyle/>
          <a:p>
            <a:pPr algn="l" indent="0" marL="0">
              <a:lnSpc>
                <a:spcPct val="117000"/>
              </a:lnSpc>
              <a:buNone/>
            </a:pPr>
            <a:r>
              <a:rPr lang="en-US" sz="950" dirty="0">
                <a:solidFill>
                  <a:srgbClr val="272525"/>
                </a:solidFill>
                <a:latin typeface="Inter" pitchFamily="34" charset="0"/>
                <a:ea typeface="Inter" pitchFamily="34" charset="-122"/>
                <a:cs typeface="Inter" pitchFamily="34" charset="-120"/>
              </a:rPr>
              <a:t>Ghi nhận </a:t>
            </a:r>
            <a:pPr algn="l" indent="0" marL="0">
              <a:lnSpc>
                <a:spcPct val="117000"/>
              </a:lnSpc>
              <a:buNone/>
            </a:pPr>
            <a:r>
              <a:rPr lang="en-US" sz="950" b="1" dirty="0">
                <a:solidFill>
                  <a:srgbClr val="272525"/>
                </a:solidFill>
                <a:latin typeface="Inter Bold" pitchFamily="34" charset="0"/>
                <a:ea typeface="Inter Bold" pitchFamily="34" charset="-122"/>
                <a:cs typeface="Inter Bold" pitchFamily="34" charset="-120"/>
              </a:rPr>
              <a:t>chuyển vị đầu mút theo chiều Y</a:t>
            </a:r>
            <a:pPr algn="l" indent="0" marL="0">
              <a:lnSpc>
                <a:spcPct val="117000"/>
              </a:lnSpc>
              <a:buNone/>
            </a:pPr>
            <a:r>
              <a:rPr lang="en-US" sz="950" dirty="0">
                <a:solidFill>
                  <a:srgbClr val="272525"/>
                </a:solidFill>
                <a:latin typeface="Inter" pitchFamily="34" charset="0"/>
                <a:ea typeface="Inter" pitchFamily="34" charset="-122"/>
                <a:cs typeface="Inter" pitchFamily="34" charset="-120"/>
              </a:rPr>
              <a:t> (Tip Y-Displacement) tại mỗi bước animate. Đây là chỉ số đo lường trực tiếp độ uốn cong của ngón tay. Dữ liệu được tổng hợp từ 3 kịch bản E để vẽ đồ thị so sánh </a:t>
            </a:r>
            <a:pPr algn="l" indent="0" marL="0">
              <a:lnSpc>
                <a:spcPct val="117000"/>
              </a:lnSpc>
              <a:buNone/>
            </a:pPr>
            <a:r>
              <a:rPr lang="en-US" sz="950" b="1" dirty="0">
                <a:solidFill>
                  <a:srgbClr val="272525"/>
                </a:solidFill>
                <a:latin typeface="Inter Bold" pitchFamily="34" charset="0"/>
                <a:ea typeface="Inter Bold" pitchFamily="34" charset="-122"/>
                <a:cs typeface="Inter Bold" pitchFamily="34" charset="-120"/>
              </a:rPr>
              <a:t>bending_comparison.png</a:t>
            </a:r>
            <a:pPr algn="l" indent="0" marL="0">
              <a:lnSpc>
                <a:spcPct val="117000"/>
              </a:lnSpc>
              <a:buNone/>
            </a:pPr>
            <a:r>
              <a:rPr lang="en-US" sz="950" dirty="0">
                <a:solidFill>
                  <a:srgbClr val="272525"/>
                </a:solidFill>
                <a:latin typeface="Inter" pitchFamily="34" charset="0"/>
                <a:ea typeface="Inter" pitchFamily="34" charset="-122"/>
                <a:cs typeface="Inter" pitchFamily="34" charset="-120"/>
              </a:rPr>
              <a:t>.</a:t>
            </a:r>
            <a:endParaRPr lang="en-US" sz="950" dirty="0"/>
          </a:p>
        </p:txBody>
      </p:sp>
      <p:sp>
        <p:nvSpPr>
          <p:cNvPr id="14" name="Shape 9"/>
          <p:cNvSpPr/>
          <p:nvPr/>
        </p:nvSpPr>
        <p:spPr>
          <a:xfrm>
            <a:off x="661475" y="2973586"/>
            <a:ext cx="10868745" cy="412155"/>
          </a:xfrm>
          <a:prstGeom prst="roundRect">
            <a:avLst>
              <a:gd name="adj" fmla="val 12640"/>
            </a:avLst>
          </a:prstGeom>
          <a:solidFill>
            <a:srgbClr val="E8E8E3"/>
          </a:solidFill>
          <a:ln/>
        </p:spPr>
      </p:sp>
      <p:pic>
        <p:nvPicPr>
          <p:cNvPr id="15" name="Image 3" descr="preencoded.png">    </p:cNvPr>
          <p:cNvPicPr>
            <a:picLocks noChangeAspect="1"/>
          </p:cNvPicPr>
          <p:nvPr/>
        </p:nvPicPr>
        <p:blipFill>
          <a:blip r:embed="rId7"/>
          <a:stretch>
            <a:fillRect/>
          </a:stretch>
        </p:blipFill>
        <p:spPr>
          <a:xfrm>
            <a:off x="785495" y="3109615"/>
            <a:ext cx="154976" cy="124023"/>
          </a:xfrm>
          <a:prstGeom prst="rect">
            <a:avLst/>
          </a:prstGeom>
        </p:spPr>
      </p:pic>
      <p:sp>
        <p:nvSpPr>
          <p:cNvPr id="16" name="Text 10"/>
          <p:cNvSpPr/>
          <p:nvPr/>
        </p:nvSpPr>
        <p:spPr>
          <a:xfrm>
            <a:off x="1064491" y="3097510"/>
            <a:ext cx="10951293" cy="173633"/>
          </a:xfrm>
          <a:prstGeom prst="rect">
            <a:avLst/>
          </a:prstGeom>
          <a:noFill/>
          <a:ln/>
        </p:spPr>
        <p:txBody>
          <a:bodyPr wrap="none" lIns="0" tIns="0" rIns="0" bIns="0" rtlCol="0" anchor="t"/>
          <a:lstStyle/>
          <a:p>
            <a:pPr algn="l" indent="0" marL="0">
              <a:lnSpc>
                <a:spcPct val="117000"/>
              </a:lnSpc>
              <a:buNone/>
            </a:pPr>
            <a:r>
              <a:rPr lang="en-US" sz="950" dirty="0">
                <a:solidFill>
                  <a:srgbClr val="000000"/>
                </a:solidFill>
                <a:latin typeface="Inter" pitchFamily="34" charset="0"/>
                <a:ea typeface="Inter" pitchFamily="34" charset="-122"/>
                <a:cs typeface="Inter" pitchFamily="34" charset="-120"/>
              </a:rPr>
              <a:t>Toàn bộ kết quả được lưu tự động vào thư mục </a:t>
            </a:r>
            <a:pPr algn="l" indent="0" marL="0">
              <a:lnSpc>
                <a:spcPct val="117000"/>
              </a:lnSpc>
              <a:buNone/>
            </a:pPr>
            <a:r>
              <a:rPr lang="en-US" sz="950" b="1" dirty="0">
                <a:solidFill>
                  <a:srgbClr val="000000"/>
                </a:solidFill>
                <a:latin typeface="Inter Bold" pitchFamily="34" charset="0"/>
                <a:ea typeface="Inter Bold" pitchFamily="34" charset="-122"/>
                <a:cs typeface="Inter Bold" pitchFamily="34" charset="-120"/>
              </a:rPr>
              <a:t>results/</a:t>
            </a:r>
            <a:pPr algn="l" indent="0" marL="0">
              <a:lnSpc>
                <a:spcPct val="117000"/>
              </a:lnSpc>
              <a:buNone/>
            </a:pPr>
            <a:r>
              <a:rPr lang="en-US" sz="950" dirty="0">
                <a:solidFill>
                  <a:srgbClr val="000000"/>
                </a:solidFill>
                <a:latin typeface="Inter" pitchFamily="34" charset="0"/>
                <a:ea typeface="Inter" pitchFamily="34" charset="-122"/>
                <a:cs typeface="Inter" pitchFamily="34" charset="-120"/>
              </a:rPr>
              <a:t> — không cần can thiệp thủ công sau khi chạy main.py.</a:t>
            </a:r>
            <a:endParaRPr lang="en-US" sz="950" dirty="0"/>
          </a:p>
        </p:txBody>
      </p:sp>
      <p:pic>
        <p:nvPicPr>
          <p:cNvPr id="17" name="Image 4" descr="preencoded.png">    </p:cNvPr>
          <p:cNvPicPr>
            <a:picLocks noChangeAspect="1"/>
          </p:cNvPicPr>
          <p:nvPr/>
        </p:nvPicPr>
        <p:blipFill>
          <a:blip r:embed="rId8"/>
          <a:stretch>
            <a:fillRect/>
          </a:stretch>
        </p:blipFill>
        <p:spPr>
          <a:xfrm>
            <a:off x="1212720" y="3594894"/>
            <a:ext cx="3286737" cy="1766094"/>
          </a:xfrm>
          <a:prstGeom prst="rect">
            <a:avLst/>
          </a:prstGeom>
        </p:spPr>
      </p:pic>
      <p:sp>
        <p:nvSpPr>
          <p:cNvPr id="18" name="Text 11"/>
          <p:cNvSpPr/>
          <p:nvPr/>
        </p:nvSpPr>
        <p:spPr>
          <a:xfrm>
            <a:off x="5359762" y="3573959"/>
            <a:ext cx="6786294" cy="173633"/>
          </a:xfrm>
          <a:prstGeom prst="rect">
            <a:avLst/>
          </a:prstGeom>
          <a:noFill/>
          <a:ln/>
        </p:spPr>
        <p:txBody>
          <a:bodyPr wrap="none" lIns="0" tIns="0" rIns="0" bIns="0" rtlCol="0" anchor="t"/>
          <a:lstStyle/>
          <a:p>
            <a:pPr algn="l" indent="0" marL="0">
              <a:lnSpc>
                <a:spcPct val="117000"/>
              </a:lnSpc>
              <a:buNone/>
            </a:pPr>
            <a:endParaRPr lang="en-US" sz="950" dirty="0"/>
          </a:p>
        </p:txBody>
      </p:sp>
      <p:pic>
        <p:nvPicPr>
          <p:cNvPr id="19" name="Image 5" descr="preencoded.png">    </p:cNvPr>
          <p:cNvPicPr>
            <a:picLocks noChangeAspect="1"/>
          </p:cNvPicPr>
          <p:nvPr/>
        </p:nvPicPr>
        <p:blipFill>
          <a:blip r:embed="rId9"/>
          <a:stretch>
            <a:fillRect/>
          </a:stretch>
        </p:blipFill>
        <p:spPr>
          <a:xfrm>
            <a:off x="6542221" y="3852168"/>
            <a:ext cx="3811790" cy="23290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580827"/>
            <a:ext cx="1500547" cy="238820"/>
          </a:xfrm>
          <a:prstGeom prst="roundRect">
            <a:avLst>
              <a:gd name="adj" fmla="val 22106"/>
            </a:avLst>
          </a:prstGeom>
          <a:solidFill>
            <a:srgbClr val="E8E8E3"/>
          </a:solidFill>
          <a:ln/>
        </p:spPr>
      </p:sp>
      <p:sp>
        <p:nvSpPr>
          <p:cNvPr id="3" name="Text 1"/>
          <p:cNvSpPr/>
          <p:nvPr/>
        </p:nvSpPr>
        <p:spPr>
          <a:xfrm>
            <a:off x="755730" y="627955"/>
            <a:ext cx="1921621" cy="144562"/>
          </a:xfrm>
          <a:prstGeom prst="rect">
            <a:avLst/>
          </a:prstGeom>
          <a:noFill/>
          <a:ln/>
        </p:spPr>
        <p:txBody>
          <a:bodyPr wrap="none" lIns="0" tIns="0" rIns="0" bIns="0" rtlCol="0" anchor="t"/>
          <a:lstStyle/>
          <a:p>
            <a:pPr algn="l" indent="0" marL="0">
              <a:lnSpc>
                <a:spcPct val="96000"/>
              </a:lnSpc>
              <a:buNone/>
            </a:pPr>
            <a:r>
              <a:rPr lang="en-US" sz="950" dirty="0">
                <a:solidFill>
                  <a:srgbClr val="272525"/>
                </a:solidFill>
                <a:latin typeface="Inter" pitchFamily="34" charset="0"/>
                <a:ea typeface="Inter" pitchFamily="34" charset="-122"/>
                <a:cs typeface="Inter" pitchFamily="34" charset="-120"/>
              </a:rPr>
              <a:t>PHÂN TÍCH THAM SỐ</a:t>
            </a:r>
            <a:endParaRPr lang="en-US" sz="950" dirty="0"/>
          </a:p>
        </p:txBody>
      </p:sp>
      <p:sp>
        <p:nvSpPr>
          <p:cNvPr id="4" name="Text 2"/>
          <p:cNvSpPr/>
          <p:nvPr/>
        </p:nvSpPr>
        <p:spPr>
          <a:xfrm>
            <a:off x="661475" y="879277"/>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312F2B"/>
                </a:solidFill>
                <a:latin typeface="Inter" pitchFamily="34" charset="0"/>
                <a:ea typeface="Inter" pitchFamily="34" charset="-122"/>
                <a:cs typeface="Inter" pitchFamily="34" charset="-120"/>
              </a:rPr>
              <a:t>Khảo sát tham số (Parameter Survey)</a:t>
            </a:r>
            <a:endParaRPr lang="en-US" sz="3050" dirty="0"/>
          </a:p>
        </p:txBody>
      </p:sp>
      <p:sp>
        <p:nvSpPr>
          <p:cNvPr id="5" name="Text 3"/>
          <p:cNvSpPr/>
          <p:nvPr/>
        </p:nvSpPr>
        <p:spPr>
          <a:xfrm>
            <a:off x="661475" y="1594048"/>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Giữ nguyên hành trình rút cáp </a:t>
            </a:r>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15 mm</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khảo sát độc lập ảnh hưởng của Mô-đun Young E qua 3 mức cứng độ vật liệu đặc trưng của Silicone thực tế.</a:t>
            </a:r>
            <a:endParaRPr lang="en-US" sz="1200" dirty="0"/>
          </a:p>
        </p:txBody>
      </p:sp>
      <p:sp>
        <p:nvSpPr>
          <p:cNvPr id="6" name="Shape 4"/>
          <p:cNvSpPr/>
          <p:nvPr/>
        </p:nvSpPr>
        <p:spPr>
          <a:xfrm>
            <a:off x="661475" y="2174974"/>
            <a:ext cx="5805243" cy="1211957"/>
          </a:xfrm>
          <a:prstGeom prst="roundRect">
            <a:avLst>
              <a:gd name="adj" fmla="val 5445"/>
            </a:avLst>
          </a:prstGeom>
          <a:solidFill>
            <a:srgbClr val="E5E5E0"/>
          </a:solidFill>
          <a:ln w="6350">
            <a:solidFill>
              <a:srgbClr val="CBCBC6"/>
            </a:solidFill>
            <a:prstDash val="solid"/>
          </a:ln>
        </p:spPr>
      </p:sp>
      <p:sp>
        <p:nvSpPr>
          <p:cNvPr id="7" name="Text 5"/>
          <p:cNvSpPr/>
          <p:nvPr/>
        </p:nvSpPr>
        <p:spPr>
          <a:xfrm>
            <a:off x="824884" y="2338388"/>
            <a:ext cx="5478425" cy="245566"/>
          </a:xfrm>
          <a:prstGeom prst="rect">
            <a:avLst/>
          </a:prstGeom>
          <a:noFill/>
          <a:ln/>
        </p:spPr>
        <p:txBody>
          <a:bodyPr wrap="none" lIns="0" tIns="0" rIns="0" bIns="0" rtlCol="0" anchor="t"/>
          <a:lstStyle/>
          <a:p>
            <a:pPr algn="l" indent="0" marL="0">
              <a:lnSpc>
                <a:spcPct val="104000"/>
              </a:lnSpc>
              <a:buNone/>
            </a:pPr>
            <a:r>
              <a:rPr lang="en-US" sz="1500" dirty="0">
                <a:solidFill>
                  <a:srgbClr val="000000"/>
                </a:solidFill>
                <a:latin typeface="Inter" pitchFamily="34" charset="0"/>
                <a:ea typeface="Inter" pitchFamily="34" charset="-122"/>
                <a:cs typeface="Inter" pitchFamily="34" charset="-120"/>
              </a:rPr>
              <a:t>E = 100 kPa</a:t>
            </a:r>
            <a:endParaRPr lang="en-US" sz="1500" dirty="0"/>
          </a:p>
        </p:txBody>
      </p:sp>
      <p:sp>
        <p:nvSpPr>
          <p:cNvPr id="8" name="Text 6"/>
          <p:cNvSpPr/>
          <p:nvPr/>
        </p:nvSpPr>
        <p:spPr>
          <a:xfrm>
            <a:off x="824884" y="2733179"/>
            <a:ext cx="5478425"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000000"/>
                </a:solidFill>
                <a:latin typeface="Inter Bold" pitchFamily="34" charset="0"/>
                <a:ea typeface="Inter Bold" pitchFamily="34" charset="-122"/>
                <a:cs typeface="Inter Bold" pitchFamily="34" charset="-120"/>
              </a:rPr>
              <a:t>Vật liệu rất mềm</a:t>
            </a:r>
            <a:pPr algn="l" indent="0" marL="0">
              <a:lnSpc>
                <a:spcPct val="130000"/>
              </a:lnSpc>
              <a:buNone/>
            </a:pPr>
            <a:r>
              <a:rPr lang="en-US" sz="1200" dirty="0">
                <a:solidFill>
                  <a:srgbClr val="000000"/>
                </a:solidFill>
                <a:latin typeface="Inter" pitchFamily="34" charset="0"/>
                <a:ea typeface="Inter" pitchFamily="34" charset="-122"/>
                <a:cs typeface="Inter" pitchFamily="34" charset="-120"/>
              </a:rPr>
              <a:t> — Chuyển vị Y đầu mút lớn nhất. Uốn cong cực đại với cùng hành trình cáp 15 mm. Tương đương Silicone siêu mềm (Shore 00).</a:t>
            </a:r>
            <a:endParaRPr lang="en-US" sz="1200" dirty="0"/>
          </a:p>
        </p:txBody>
      </p:sp>
      <p:sp>
        <p:nvSpPr>
          <p:cNvPr id="9" name="Shape 7"/>
          <p:cNvSpPr/>
          <p:nvPr/>
        </p:nvSpPr>
        <p:spPr>
          <a:xfrm>
            <a:off x="661475" y="3536156"/>
            <a:ext cx="5805243" cy="1211957"/>
          </a:xfrm>
          <a:prstGeom prst="roundRect">
            <a:avLst>
              <a:gd name="adj" fmla="val 5445"/>
            </a:avLst>
          </a:prstGeom>
          <a:solidFill>
            <a:srgbClr val="E8E8E3"/>
          </a:solidFill>
          <a:ln w="6350">
            <a:solidFill>
              <a:srgbClr val="CECEC9"/>
            </a:solidFill>
            <a:prstDash val="solid"/>
          </a:ln>
        </p:spPr>
      </p:sp>
      <p:sp>
        <p:nvSpPr>
          <p:cNvPr id="10" name="Text 8"/>
          <p:cNvSpPr/>
          <p:nvPr/>
        </p:nvSpPr>
        <p:spPr>
          <a:xfrm>
            <a:off x="824884" y="3699570"/>
            <a:ext cx="5478425"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E = 150 kPa</a:t>
            </a:r>
            <a:endParaRPr lang="en-US" sz="1500" dirty="0"/>
          </a:p>
        </p:txBody>
      </p:sp>
      <p:sp>
        <p:nvSpPr>
          <p:cNvPr id="11" name="Text 9"/>
          <p:cNvSpPr/>
          <p:nvPr/>
        </p:nvSpPr>
        <p:spPr>
          <a:xfrm>
            <a:off x="824884" y="4094361"/>
            <a:ext cx="5478425"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Vật liệu vừa</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 Chuyển vị Y trung bình. Cân bằng giữa độ uốn và độ cứng cấu trúc. Phổ biến trong thiết kế Soft Gripper thực tế.</a:t>
            </a:r>
            <a:endParaRPr lang="en-US" sz="1200" dirty="0"/>
          </a:p>
        </p:txBody>
      </p:sp>
      <p:sp>
        <p:nvSpPr>
          <p:cNvPr id="12" name="Shape 10"/>
          <p:cNvSpPr/>
          <p:nvPr/>
        </p:nvSpPr>
        <p:spPr>
          <a:xfrm>
            <a:off x="661475" y="4897338"/>
            <a:ext cx="5805243" cy="1211957"/>
          </a:xfrm>
          <a:prstGeom prst="roundRect">
            <a:avLst>
              <a:gd name="adj" fmla="val 5445"/>
            </a:avLst>
          </a:prstGeom>
          <a:solidFill>
            <a:srgbClr val="E8E8E3"/>
          </a:solidFill>
          <a:ln w="6350">
            <a:solidFill>
              <a:srgbClr val="CECEC9"/>
            </a:solidFill>
            <a:prstDash val="solid"/>
          </a:ln>
        </p:spPr>
      </p:sp>
      <p:sp>
        <p:nvSpPr>
          <p:cNvPr id="13" name="Text 11"/>
          <p:cNvSpPr/>
          <p:nvPr/>
        </p:nvSpPr>
        <p:spPr>
          <a:xfrm>
            <a:off x="824884" y="5060752"/>
            <a:ext cx="5478425" cy="245566"/>
          </a:xfrm>
          <a:prstGeom prst="rect">
            <a:avLst/>
          </a:prstGeom>
          <a:noFill/>
          <a:ln/>
        </p:spPr>
        <p:txBody>
          <a:bodyPr wrap="none" lIns="0" tIns="0" rIns="0" bIns="0" rtlCol="0" anchor="t"/>
          <a:lstStyle/>
          <a:p>
            <a:pPr algn="l" indent="0" marL="0">
              <a:lnSpc>
                <a:spcPct val="104000"/>
              </a:lnSpc>
              <a:buNone/>
            </a:pPr>
            <a:r>
              <a:rPr lang="en-US" sz="1500" dirty="0">
                <a:solidFill>
                  <a:srgbClr val="272525"/>
                </a:solidFill>
                <a:latin typeface="Inter" pitchFamily="34" charset="0"/>
                <a:ea typeface="Inter" pitchFamily="34" charset="-122"/>
                <a:cs typeface="Inter" pitchFamily="34" charset="-120"/>
              </a:rPr>
              <a:t>E = 200 kPa</a:t>
            </a:r>
            <a:endParaRPr lang="en-US" sz="1500" dirty="0"/>
          </a:p>
        </p:txBody>
      </p:sp>
      <p:sp>
        <p:nvSpPr>
          <p:cNvPr id="14" name="Text 12"/>
          <p:cNvSpPr/>
          <p:nvPr/>
        </p:nvSpPr>
        <p:spPr>
          <a:xfrm>
            <a:off x="824884" y="5455543"/>
            <a:ext cx="5478425" cy="49033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Vật liệu cứng hơn</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 Chuyển vị Y nhỏ nhất. Độ cứng cao làm giảm khả năng uốn cong dù lực cáp như nhau.</a:t>
            </a:r>
            <a:endParaRPr lang="en-US" sz="1200" dirty="0"/>
          </a:p>
        </p:txBody>
      </p:sp>
      <p:sp>
        <p:nvSpPr>
          <p:cNvPr id="15" name="Shape 13"/>
          <p:cNvSpPr/>
          <p:nvPr/>
        </p:nvSpPr>
        <p:spPr>
          <a:xfrm>
            <a:off x="6743234" y="2007096"/>
            <a:ext cx="4906443" cy="4270077"/>
          </a:xfrm>
          <a:prstGeom prst="roundRect">
            <a:avLst>
              <a:gd name="adj" fmla="val 2649"/>
            </a:avLst>
          </a:prstGeom>
          <a:solidFill>
            <a:srgbClr val="E5E5E0">
              <a:alpha val="95000"/>
            </a:srgbClr>
          </a:solidFill>
          <a:ln/>
        </p:spPr>
      </p:sp>
      <p:sp>
        <p:nvSpPr>
          <p:cNvPr id="16" name="Text 14"/>
          <p:cNvSpPr/>
          <p:nvPr/>
        </p:nvSpPr>
        <p:spPr>
          <a:xfrm>
            <a:off x="6900293" y="2156321"/>
            <a:ext cx="4592324" cy="245566"/>
          </a:xfrm>
          <a:prstGeom prst="rect">
            <a:avLst/>
          </a:prstGeom>
          <a:noFill/>
          <a:ln/>
        </p:spPr>
        <p:txBody>
          <a:bodyPr wrap="none" lIns="0" tIns="0" rIns="0" bIns="0" rtlCol="0" anchor="t"/>
          <a:lstStyle/>
          <a:p>
            <a:pPr algn="l" indent="0" marL="0">
              <a:lnSpc>
                <a:spcPct val="104000"/>
              </a:lnSpc>
              <a:buNone/>
            </a:pPr>
            <a:r>
              <a:rPr lang="en-US" sz="1500" dirty="0">
                <a:solidFill>
                  <a:srgbClr val="312F2B"/>
                </a:solidFill>
                <a:latin typeface="Inter" pitchFamily="34" charset="0"/>
                <a:ea typeface="Inter" pitchFamily="34" charset="-122"/>
                <a:cs typeface="Inter" pitchFamily="34" charset="-120"/>
              </a:rPr>
              <a:t>Nhận xét kỹ thuật chính</a:t>
            </a:r>
            <a:endParaRPr lang="en-US" sz="1500" dirty="0"/>
          </a:p>
        </p:txBody>
      </p:sp>
      <p:pic>
        <p:nvPicPr>
          <p:cNvPr id="1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959227" y="2577554"/>
            <a:ext cx="235639" cy="235645"/>
          </a:xfrm>
          <a:prstGeom prst="rect">
            <a:avLst/>
          </a:prstGeom>
        </p:spPr>
      </p:pic>
      <p:sp>
        <p:nvSpPr>
          <p:cNvPr id="18" name="Text 15"/>
          <p:cNvSpPr/>
          <p:nvPr/>
        </p:nvSpPr>
        <p:spPr>
          <a:xfrm>
            <a:off x="7410860" y="2569766"/>
            <a:ext cx="1692332" cy="1961356"/>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Quan hệ nghịch E– độ uốn:</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Mô-đun Young E càng tăng thì độ cứng vật liệu càng cao, kéo theo sự suy giảm rõ rệt khả năng uốn cong tại cùng hành trình cáp.</a:t>
            </a:r>
            <a:endParaRPr lang="en-US" sz="1200" dirty="0"/>
          </a:p>
        </p:txBody>
      </p:sp>
      <p:pic>
        <p:nvPicPr>
          <p:cNvPr id="1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348653" y="2577554"/>
            <a:ext cx="235639" cy="235645"/>
          </a:xfrm>
          <a:prstGeom prst="rect">
            <a:avLst/>
          </a:prstGeom>
        </p:spPr>
      </p:pic>
      <p:sp>
        <p:nvSpPr>
          <p:cNvPr id="20" name="Text 16"/>
          <p:cNvSpPr/>
          <p:nvPr/>
        </p:nvSpPr>
        <p:spPr>
          <a:xfrm>
            <a:off x="9800285" y="2569766"/>
            <a:ext cx="1692332" cy="2206526"/>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Phi tuyến mạnh:</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Mối quan hệ giữa hành trình rút cáp và độ biến dạng mang tính phi tuyến rõ rệt — đặc trưng của cơ cấu Soft Robotics không thể bỏ qua khi thiết kế điều khiển.</a:t>
            </a:r>
            <a:endParaRPr lang="en-US" sz="1200" dirty="0"/>
          </a:p>
        </p:txBody>
      </p:sp>
      <p:pic>
        <p:nvPicPr>
          <p:cNvPr id="2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59227" y="5082530"/>
            <a:ext cx="235639" cy="235645"/>
          </a:xfrm>
          <a:prstGeom prst="rect">
            <a:avLst/>
          </a:prstGeom>
        </p:spPr>
      </p:pic>
      <p:sp>
        <p:nvSpPr>
          <p:cNvPr id="22" name="Text 17"/>
          <p:cNvSpPr/>
          <p:nvPr/>
        </p:nvSpPr>
        <p:spPr>
          <a:xfrm>
            <a:off x="7410860" y="5074741"/>
            <a:ext cx="4081757" cy="735509"/>
          </a:xfrm>
          <a:prstGeom prst="rect">
            <a:avLst/>
          </a:prstGeom>
          <a:noFill/>
          <a:ln/>
        </p:spPr>
        <p:txBody>
          <a:bodyPr wrap="square" lIns="0" tIns="0" rIns="0" bIns="0" rtlCol="0" anchor="t">
            <a:normAutofit/>
          </a:bodyPr>
          <a:lstStyle/>
          <a:p>
            <a:pPr algn="l" indent="0" marL="0">
              <a:lnSpc>
                <a:spcPct val="130000"/>
              </a:lnSpc>
              <a:buNone/>
            </a:pPr>
            <a:r>
              <a:rPr lang="en-US" sz="1200" b="1" dirty="0">
                <a:solidFill>
                  <a:srgbClr val="272525"/>
                </a:solidFill>
                <a:latin typeface="Inter Bold" pitchFamily="34" charset="0"/>
                <a:ea typeface="Inter Bold" pitchFamily="34" charset="-122"/>
                <a:cs typeface="Inter Bold" pitchFamily="34" charset="-120"/>
              </a:rPr>
              <a:t>Tham số hóa thiết kế:</a:t>
            </a:r>
            <a:pPr algn="l" indent="0" marL="0">
              <a:lnSpc>
                <a:spcPct val="130000"/>
              </a:lnSpc>
              <a:buNone/>
            </a:pPr>
            <a:r>
              <a:rPr lang="en-US" sz="1200" dirty="0">
                <a:solidFill>
                  <a:srgbClr val="272525"/>
                </a:solidFill>
                <a:latin typeface="Inter" pitchFamily="34" charset="0"/>
                <a:ea typeface="Inter" pitchFamily="34" charset="-122"/>
                <a:cs typeface="Inter" pitchFamily="34" charset="-120"/>
              </a:rPr>
              <a:t> Bộ dữ liệu cho phép lựa chọn E phù hợp yêu cầu lực kẹp và góc uốn mục tiêu trong ứng dụng thực tế.</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552351"/>
            <a:ext cx="680524" cy="201116"/>
          </a:xfrm>
          <a:prstGeom prst="roundRect">
            <a:avLst>
              <a:gd name="adj" fmla="val 22105"/>
            </a:avLst>
          </a:prstGeom>
          <a:solidFill>
            <a:srgbClr val="E8E8E3"/>
          </a:solidFill>
          <a:ln/>
        </p:spPr>
      </p:sp>
      <p:sp>
        <p:nvSpPr>
          <p:cNvPr id="3" name="Text 1"/>
          <p:cNvSpPr/>
          <p:nvPr/>
        </p:nvSpPr>
        <p:spPr>
          <a:xfrm>
            <a:off x="740848" y="592038"/>
            <a:ext cx="1131363" cy="121741"/>
          </a:xfrm>
          <a:prstGeom prst="rect">
            <a:avLst/>
          </a:prstGeom>
          <a:noFill/>
          <a:ln/>
        </p:spPr>
        <p:txBody>
          <a:bodyPr wrap="none" lIns="0" tIns="0" rIns="0" bIns="0" rtlCol="0" anchor="t"/>
          <a:lstStyle/>
          <a:p>
            <a:pPr algn="l" indent="0" marL="0">
              <a:lnSpc>
                <a:spcPct val="96000"/>
              </a:lnSpc>
              <a:buNone/>
            </a:pPr>
            <a:r>
              <a:rPr lang="en-US" sz="800" dirty="0">
                <a:solidFill>
                  <a:srgbClr val="272525"/>
                </a:solidFill>
                <a:latin typeface="Inter" pitchFamily="34" charset="0"/>
                <a:ea typeface="Inter" pitchFamily="34" charset="-122"/>
                <a:cs typeface="Inter" pitchFamily="34" charset="-120"/>
              </a:rPr>
              <a:t>KẾT LUẬN</a:t>
            </a:r>
            <a:endParaRPr lang="en-US" sz="800" dirty="0"/>
          </a:p>
        </p:txBody>
      </p:sp>
      <p:sp>
        <p:nvSpPr>
          <p:cNvPr id="4" name="Text 2"/>
          <p:cNvSpPr/>
          <p:nvPr/>
        </p:nvSpPr>
        <p:spPr>
          <a:xfrm>
            <a:off x="661475" y="795734"/>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312F2B"/>
                </a:solidFill>
                <a:latin typeface="Inter" pitchFamily="34" charset="0"/>
                <a:ea typeface="Inter" pitchFamily="34" charset="-122"/>
                <a:cs typeface="Inter" pitchFamily="34" charset="-120"/>
              </a:rPr>
              <a:t>Hạn chế &amp; Hướng phát triển</a:t>
            </a:r>
            <a:endParaRPr lang="en-US" sz="2600" dirty="0"/>
          </a:p>
        </p:txBody>
      </p:sp>
      <p:sp>
        <p:nvSpPr>
          <p:cNvPr id="5" name="Shape 3"/>
          <p:cNvSpPr/>
          <p:nvPr/>
        </p:nvSpPr>
        <p:spPr>
          <a:xfrm>
            <a:off x="566227" y="1367929"/>
            <a:ext cx="5463542" cy="4937621"/>
          </a:xfrm>
          <a:prstGeom prst="roundRect">
            <a:avLst>
              <a:gd name="adj" fmla="val 1929"/>
            </a:avLst>
          </a:prstGeom>
          <a:solidFill>
            <a:srgbClr val="FFFFFF">
              <a:alpha val="95000"/>
            </a:srgbClr>
          </a:solidFill>
          <a:ln/>
        </p:spPr>
      </p:sp>
      <p:sp>
        <p:nvSpPr>
          <p:cNvPr id="6" name="Text 4"/>
          <p:cNvSpPr/>
          <p:nvPr/>
        </p:nvSpPr>
        <p:spPr>
          <a:xfrm>
            <a:off x="698483" y="1473696"/>
            <a:ext cx="5199032" cy="206673"/>
          </a:xfrm>
          <a:prstGeom prst="rect">
            <a:avLst/>
          </a:prstGeom>
          <a:noFill/>
          <a:ln/>
        </p:spPr>
        <p:txBody>
          <a:bodyPr wrap="none" lIns="0" tIns="0" rIns="0" bIns="0" rtlCol="0" anchor="t"/>
          <a:lstStyle/>
          <a:p>
            <a:pPr algn="l" indent="0" marL="0">
              <a:lnSpc>
                <a:spcPct val="104000"/>
              </a:lnSpc>
              <a:buNone/>
            </a:pPr>
            <a:r>
              <a:rPr lang="en-US" sz="1300" dirty="0">
                <a:solidFill>
                  <a:srgbClr val="312F2B"/>
                </a:solidFill>
                <a:latin typeface="Inter" pitchFamily="34" charset="0"/>
                <a:ea typeface="Inter" pitchFamily="34" charset="-122"/>
                <a:cs typeface="Inter" pitchFamily="34" charset="-120"/>
              </a:rPr>
              <a:t>Hạn chế hiện tại</a:t>
            </a:r>
            <a:endParaRPr lang="en-US" sz="1300" dirty="0"/>
          </a:p>
        </p:txBody>
      </p:sp>
      <p:sp>
        <p:nvSpPr>
          <p:cNvPr id="7" name="Shape 5"/>
          <p:cNvSpPr/>
          <p:nvPr/>
        </p:nvSpPr>
        <p:spPr>
          <a:xfrm>
            <a:off x="698483" y="1799431"/>
            <a:ext cx="297649" cy="297656"/>
          </a:xfrm>
          <a:prstGeom prst="roundRect">
            <a:avLst>
              <a:gd name="adj" fmla="val 18670"/>
            </a:avLst>
          </a:prstGeom>
          <a:solidFill>
            <a:srgbClr val="5CC97B"/>
          </a:solidFill>
          <a:ln w="6350">
            <a:solidFill>
              <a:srgbClr val="42AF61"/>
            </a:solidFill>
            <a:prstDash val="solid"/>
          </a:ln>
        </p:spPr>
      </p:sp>
      <p:sp>
        <p:nvSpPr>
          <p:cNvPr id="8" name="Text 6"/>
          <p:cNvSpPr/>
          <p:nvPr/>
        </p:nvSpPr>
        <p:spPr>
          <a:xfrm>
            <a:off x="748091" y="1824236"/>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Inter" pitchFamily="34" charset="0"/>
                <a:ea typeface="Inter" pitchFamily="34" charset="-122"/>
                <a:cs typeface="Inter" pitchFamily="34" charset="-120"/>
              </a:rPr>
              <a:t>1</a:t>
            </a:r>
            <a:endParaRPr lang="en-US" sz="1550" dirty="0"/>
          </a:p>
        </p:txBody>
      </p:sp>
      <p:sp>
        <p:nvSpPr>
          <p:cNvPr id="9" name="Text 7"/>
          <p:cNvSpPr/>
          <p:nvPr/>
        </p:nvSpPr>
        <p:spPr>
          <a:xfrm>
            <a:off x="1101896" y="1844873"/>
            <a:ext cx="2129975" cy="206673"/>
          </a:xfrm>
          <a:prstGeom prst="rect">
            <a:avLst/>
          </a:prstGeom>
          <a:noFill/>
          <a:ln/>
        </p:spPr>
        <p:txBody>
          <a:bodyPr wrap="none" lIns="0" tIns="0" rIns="0" bIns="0" rtlCol="0" anchor="t"/>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Mô hình vật liệu tuyến tính</a:t>
            </a:r>
            <a:endParaRPr lang="en-US" sz="1300" dirty="0"/>
          </a:p>
        </p:txBody>
      </p:sp>
      <p:sp>
        <p:nvSpPr>
          <p:cNvPr id="10" name="Text 8"/>
          <p:cNvSpPr/>
          <p:nvPr/>
        </p:nvSpPr>
        <p:spPr>
          <a:xfrm>
            <a:off x="1101896" y="2157313"/>
            <a:ext cx="2129975" cy="1143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Chưa phản ánh chính xác ứng xử Silicone ở biến dạng cực lớn (&gt;30%). Cần nâng cấp lên mô hình </a:t>
            </a:r>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Hyperelastic</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(Neo-Hookean, Mooney-Rivlin) để tăng độ chính xác.</a:t>
            </a:r>
            <a:endParaRPr lang="en-US" sz="1000" dirty="0"/>
          </a:p>
        </p:txBody>
      </p:sp>
      <p:sp>
        <p:nvSpPr>
          <p:cNvPr id="11" name="Shape 9"/>
          <p:cNvSpPr/>
          <p:nvPr/>
        </p:nvSpPr>
        <p:spPr>
          <a:xfrm>
            <a:off x="3364126" y="1799431"/>
            <a:ext cx="297649" cy="297656"/>
          </a:xfrm>
          <a:prstGeom prst="roundRect">
            <a:avLst>
              <a:gd name="adj" fmla="val 18670"/>
            </a:avLst>
          </a:prstGeom>
          <a:solidFill>
            <a:srgbClr val="5E98F1"/>
          </a:solidFill>
          <a:ln w="6350">
            <a:solidFill>
              <a:srgbClr val="447ED7"/>
            </a:solidFill>
            <a:prstDash val="solid"/>
          </a:ln>
        </p:spPr>
      </p:sp>
      <p:sp>
        <p:nvSpPr>
          <p:cNvPr id="12" name="Text 10"/>
          <p:cNvSpPr/>
          <p:nvPr/>
        </p:nvSpPr>
        <p:spPr>
          <a:xfrm>
            <a:off x="3413734" y="1824236"/>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Inter" pitchFamily="34" charset="0"/>
                <a:ea typeface="Inter" pitchFamily="34" charset="-122"/>
                <a:cs typeface="Inter" pitchFamily="34" charset="-120"/>
              </a:rPr>
              <a:t>2</a:t>
            </a:r>
            <a:endParaRPr lang="en-US" sz="1550" dirty="0"/>
          </a:p>
        </p:txBody>
      </p:sp>
      <p:sp>
        <p:nvSpPr>
          <p:cNvPr id="13" name="Text 11"/>
          <p:cNvSpPr/>
          <p:nvPr/>
        </p:nvSpPr>
        <p:spPr>
          <a:xfrm>
            <a:off x="3767539" y="1844873"/>
            <a:ext cx="2129975" cy="413345"/>
          </a:xfrm>
          <a:prstGeom prst="rect">
            <a:avLst/>
          </a:prstGeom>
          <a:noFill/>
          <a:ln/>
        </p:spPr>
        <p:txBody>
          <a:bodyPr wrap="square" lIns="0" tIns="0" rIns="0" bIns="0" rtlCol="0" anchor="t">
            <a:normAutofit/>
          </a:bodyPr>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Tập trung ứng suất tại điểm neo</a:t>
            </a:r>
            <a:endParaRPr lang="en-US" sz="1300" dirty="0"/>
          </a:p>
        </p:txBody>
      </p:sp>
      <p:sp>
        <p:nvSpPr>
          <p:cNvPr id="14" name="Text 12"/>
          <p:cNvSpPr/>
          <p:nvPr/>
        </p:nvSpPr>
        <p:spPr>
          <a:xfrm>
            <a:off x="3767539" y="2363986"/>
            <a:ext cx="2129975" cy="1143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Thiếu tấm đệm cứng (</a:t>
            </a:r>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End-cap</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tại điểm neo cáp gây tập trung ứng suất cục bộ, làm méo trường biến dạng xung quanh và có thể dẫn đến phân kỳ số trong bài toán biến dạng lớn.</a:t>
            </a:r>
            <a:endParaRPr lang="en-US" sz="1000" dirty="0"/>
          </a:p>
        </p:txBody>
      </p:sp>
      <p:sp>
        <p:nvSpPr>
          <p:cNvPr id="15" name="Shape 13"/>
          <p:cNvSpPr/>
          <p:nvPr/>
        </p:nvSpPr>
        <p:spPr>
          <a:xfrm>
            <a:off x="698483" y="3718620"/>
            <a:ext cx="297649" cy="297656"/>
          </a:xfrm>
          <a:prstGeom prst="roundRect">
            <a:avLst>
              <a:gd name="adj" fmla="val 18670"/>
            </a:avLst>
          </a:prstGeom>
          <a:solidFill>
            <a:srgbClr val="FFA44F"/>
          </a:solidFill>
          <a:ln w="6350">
            <a:solidFill>
              <a:srgbClr val="E58A35"/>
            </a:solidFill>
            <a:prstDash val="solid"/>
          </a:ln>
        </p:spPr>
      </p:sp>
      <p:sp>
        <p:nvSpPr>
          <p:cNvPr id="16" name="Text 14"/>
          <p:cNvSpPr/>
          <p:nvPr/>
        </p:nvSpPr>
        <p:spPr>
          <a:xfrm>
            <a:off x="748091" y="3743424"/>
            <a:ext cx="198433" cy="248047"/>
          </a:xfrm>
          <a:prstGeom prst="rect">
            <a:avLst/>
          </a:prstGeom>
          <a:noFill/>
          <a:ln/>
        </p:spPr>
        <p:txBody>
          <a:bodyPr wrap="none" lIns="0" tIns="0" rIns="0" bIns="0" rtlCol="0" anchor="ctr"/>
          <a:lstStyle/>
          <a:p>
            <a:pPr algn="ctr" indent="0" marL="0">
              <a:lnSpc>
                <a:spcPct val="100000"/>
              </a:lnSpc>
              <a:buNone/>
            </a:pPr>
            <a:r>
              <a:rPr lang="en-US" sz="1550" dirty="0">
                <a:solidFill>
                  <a:srgbClr val="000000"/>
                </a:solidFill>
                <a:latin typeface="Inter" pitchFamily="34" charset="0"/>
                <a:ea typeface="Inter" pitchFamily="34" charset="-122"/>
                <a:cs typeface="Inter" pitchFamily="34" charset="-120"/>
              </a:rPr>
              <a:t>3</a:t>
            </a:r>
            <a:endParaRPr lang="en-US" sz="1550" dirty="0"/>
          </a:p>
        </p:txBody>
      </p:sp>
      <p:sp>
        <p:nvSpPr>
          <p:cNvPr id="17" name="Text 15"/>
          <p:cNvSpPr/>
          <p:nvPr/>
        </p:nvSpPr>
        <p:spPr>
          <a:xfrm>
            <a:off x="1101896" y="3764062"/>
            <a:ext cx="4795618" cy="206673"/>
          </a:xfrm>
          <a:prstGeom prst="rect">
            <a:avLst/>
          </a:prstGeom>
          <a:noFill/>
          <a:ln/>
        </p:spPr>
        <p:txBody>
          <a:bodyPr wrap="none" lIns="0" tIns="0" rIns="0" bIns="0" rtlCol="0" anchor="t"/>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Chưa xét va chạm tự giao</a:t>
            </a:r>
            <a:endParaRPr lang="en-US" sz="1300" dirty="0"/>
          </a:p>
        </p:txBody>
      </p:sp>
      <p:sp>
        <p:nvSpPr>
          <p:cNvPr id="18" name="Text 16"/>
          <p:cNvSpPr/>
          <p:nvPr/>
        </p:nvSpPr>
        <p:spPr>
          <a:xfrm>
            <a:off x="1101896" y="4076502"/>
            <a:ext cx="4795618"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Mô hình hiện tại chưa tích hợp </a:t>
            </a:r>
            <a:pPr algn="l" indent="0" marL="0">
              <a:lnSpc>
                <a:spcPct val="120000"/>
              </a:lnSpc>
              <a:buNone/>
            </a:pPr>
            <a:r>
              <a:rPr lang="en-US" sz="1000" b="1" dirty="0">
                <a:solidFill>
                  <a:srgbClr val="272525"/>
                </a:solidFill>
                <a:latin typeface="Inter Bold" pitchFamily="34" charset="0"/>
                <a:ea typeface="Inter Bold" pitchFamily="34" charset="-122"/>
                <a:cs typeface="Inter Bold" pitchFamily="34" charset="-120"/>
              </a:rPr>
              <a:t>Contact Surface</a:t>
            </a:r>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 không phát hiện va chạm khi ngón tay tự gập hoàn toàn — hạn chế tầm hoạt động khảo sát.</a:t>
            </a:r>
            <a:endParaRPr lang="en-US" sz="1000" dirty="0"/>
          </a:p>
        </p:txBody>
      </p:sp>
      <p:sp>
        <p:nvSpPr>
          <p:cNvPr id="19" name="Shape 17"/>
          <p:cNvSpPr/>
          <p:nvPr/>
        </p:nvSpPr>
        <p:spPr>
          <a:xfrm>
            <a:off x="6168275" y="1367929"/>
            <a:ext cx="5463542" cy="4937621"/>
          </a:xfrm>
          <a:prstGeom prst="roundRect">
            <a:avLst>
              <a:gd name="adj" fmla="val 1929"/>
            </a:avLst>
          </a:prstGeom>
          <a:solidFill>
            <a:srgbClr val="FFFFFF">
              <a:alpha val="95000"/>
            </a:srgbClr>
          </a:solidFill>
          <a:ln/>
        </p:spPr>
      </p:sp>
      <p:sp>
        <p:nvSpPr>
          <p:cNvPr id="20" name="Text 18"/>
          <p:cNvSpPr/>
          <p:nvPr/>
        </p:nvSpPr>
        <p:spPr>
          <a:xfrm>
            <a:off x="6300531" y="1473696"/>
            <a:ext cx="5199032" cy="206673"/>
          </a:xfrm>
          <a:prstGeom prst="rect">
            <a:avLst/>
          </a:prstGeom>
          <a:noFill/>
          <a:ln/>
        </p:spPr>
        <p:txBody>
          <a:bodyPr wrap="none" lIns="0" tIns="0" rIns="0" bIns="0" rtlCol="0" anchor="t"/>
          <a:lstStyle/>
          <a:p>
            <a:pPr algn="l" indent="0" marL="0">
              <a:lnSpc>
                <a:spcPct val="104000"/>
              </a:lnSpc>
              <a:buNone/>
            </a:pPr>
            <a:r>
              <a:rPr lang="en-US" sz="1300" dirty="0">
                <a:solidFill>
                  <a:srgbClr val="312F2B"/>
                </a:solidFill>
                <a:latin typeface="Inter" pitchFamily="34" charset="0"/>
                <a:ea typeface="Inter" pitchFamily="34" charset="-122"/>
                <a:cs typeface="Inter" pitchFamily="34" charset="-120"/>
              </a:rPr>
              <a:t>Hướng phát triển tiếp theo</a:t>
            </a:r>
            <a:endParaRPr lang="en-US" sz="1300" dirty="0"/>
          </a:p>
        </p:txBody>
      </p:sp>
      <p:sp>
        <p:nvSpPr>
          <p:cNvPr id="21" name="Shape 19"/>
          <p:cNvSpPr/>
          <p:nvPr/>
        </p:nvSpPr>
        <p:spPr>
          <a:xfrm>
            <a:off x="6498963" y="1931690"/>
            <a:ext cx="5000500" cy="132259"/>
          </a:xfrm>
          <a:prstGeom prst="roundRect">
            <a:avLst>
              <a:gd name="adj" fmla="val 42017"/>
            </a:avLst>
          </a:prstGeom>
          <a:solidFill>
            <a:srgbClr val="FCEC99"/>
          </a:solidFill>
          <a:ln w="6350">
            <a:solidFill>
              <a:srgbClr val="E2D27F"/>
            </a:solidFill>
            <a:prstDash val="solid"/>
          </a:ln>
        </p:spPr>
      </p:sp>
      <p:sp>
        <p:nvSpPr>
          <p:cNvPr id="22" name="Shape 20"/>
          <p:cNvSpPr/>
          <p:nvPr/>
        </p:nvSpPr>
        <p:spPr>
          <a:xfrm>
            <a:off x="6300531" y="1799431"/>
            <a:ext cx="396865" cy="396875"/>
          </a:xfrm>
          <a:prstGeom prst="ellipse">
            <a:avLst/>
          </a:prstGeom>
          <a:solidFill>
            <a:srgbClr val="FCEC99"/>
          </a:solidFill>
          <a:ln w="6350">
            <a:solidFill>
              <a:srgbClr val="E2D27F"/>
            </a:solidFill>
            <a:prstDash val="solid"/>
          </a:ln>
        </p:spPr>
      </p:sp>
      <p:pic>
        <p:nvPicPr>
          <p:cNvPr id="2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99747" y="1898650"/>
            <a:ext cx="198433" cy="198438"/>
          </a:xfrm>
          <a:prstGeom prst="rect">
            <a:avLst/>
          </a:prstGeom>
        </p:spPr>
      </p:pic>
      <p:sp>
        <p:nvSpPr>
          <p:cNvPr id="24" name="Text 21"/>
          <p:cNvSpPr/>
          <p:nvPr/>
        </p:nvSpPr>
        <p:spPr>
          <a:xfrm>
            <a:off x="6432786" y="2302073"/>
            <a:ext cx="4934521" cy="206673"/>
          </a:xfrm>
          <a:prstGeom prst="rect">
            <a:avLst/>
          </a:prstGeom>
          <a:noFill/>
          <a:ln/>
        </p:spPr>
        <p:txBody>
          <a:bodyPr wrap="none" lIns="0" tIns="0" rIns="0" bIns="0" rtlCol="0" anchor="t"/>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Vật liệu Hyperelastic</a:t>
            </a:r>
            <a:endParaRPr lang="en-US" sz="1300" dirty="0"/>
          </a:p>
        </p:txBody>
      </p:sp>
      <p:sp>
        <p:nvSpPr>
          <p:cNvPr id="25" name="Text 22"/>
          <p:cNvSpPr/>
          <p:nvPr/>
        </p:nvSpPr>
        <p:spPr>
          <a:xfrm>
            <a:off x="6432786" y="2614513"/>
            <a:ext cx="493452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Nâng cấp lên mô hình siêu đàn hồi phi tuyến (Neo-Hookean / Mooney-Rivlin) để mô phỏng chính xác Silicone ở dải biến dạng lớn, sát thực tế chế tạo hơn.</a:t>
            </a:r>
            <a:endParaRPr lang="en-US" sz="1000" dirty="0"/>
          </a:p>
        </p:txBody>
      </p:sp>
      <p:sp>
        <p:nvSpPr>
          <p:cNvPr id="26" name="Shape 23"/>
          <p:cNvSpPr/>
          <p:nvPr/>
        </p:nvSpPr>
        <p:spPr>
          <a:xfrm>
            <a:off x="6697396" y="3365798"/>
            <a:ext cx="4802067" cy="132259"/>
          </a:xfrm>
          <a:prstGeom prst="roundRect">
            <a:avLst>
              <a:gd name="adj" fmla="val 42017"/>
            </a:avLst>
          </a:prstGeom>
          <a:solidFill>
            <a:srgbClr val="FCEC99"/>
          </a:solidFill>
          <a:ln w="6350">
            <a:solidFill>
              <a:srgbClr val="E2D27F"/>
            </a:solidFill>
            <a:prstDash val="solid"/>
          </a:ln>
        </p:spPr>
      </p:sp>
      <p:sp>
        <p:nvSpPr>
          <p:cNvPr id="27" name="Shape 24"/>
          <p:cNvSpPr/>
          <p:nvPr/>
        </p:nvSpPr>
        <p:spPr>
          <a:xfrm>
            <a:off x="6498963" y="3233539"/>
            <a:ext cx="396865" cy="396875"/>
          </a:xfrm>
          <a:prstGeom prst="ellipse">
            <a:avLst/>
          </a:prstGeom>
          <a:solidFill>
            <a:srgbClr val="FCEC99"/>
          </a:solidFill>
          <a:ln w="6350">
            <a:solidFill>
              <a:srgbClr val="E2D27F"/>
            </a:solidFill>
            <a:prstDash val="solid"/>
          </a:ln>
        </p:spPr>
      </p:sp>
      <p:pic>
        <p:nvPicPr>
          <p:cNvPr id="2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98179" y="3332758"/>
            <a:ext cx="198433" cy="198438"/>
          </a:xfrm>
          <a:prstGeom prst="rect">
            <a:avLst/>
          </a:prstGeom>
        </p:spPr>
      </p:pic>
      <p:sp>
        <p:nvSpPr>
          <p:cNvPr id="29" name="Text 25"/>
          <p:cNvSpPr/>
          <p:nvPr/>
        </p:nvSpPr>
        <p:spPr>
          <a:xfrm>
            <a:off x="6631218" y="3736181"/>
            <a:ext cx="4736089" cy="206673"/>
          </a:xfrm>
          <a:prstGeom prst="rect">
            <a:avLst/>
          </a:prstGeom>
          <a:noFill/>
          <a:ln/>
        </p:spPr>
        <p:txBody>
          <a:bodyPr wrap="none" lIns="0" tIns="0" rIns="0" bIns="0" rtlCol="0" anchor="t"/>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Cảm biến lực kẹp vòng kín</a:t>
            </a:r>
            <a:endParaRPr lang="en-US" sz="1300" dirty="0"/>
          </a:p>
        </p:txBody>
      </p:sp>
      <p:sp>
        <p:nvSpPr>
          <p:cNvPr id="30" name="Text 26"/>
          <p:cNvSpPr/>
          <p:nvPr/>
        </p:nvSpPr>
        <p:spPr>
          <a:xfrm>
            <a:off x="6631218" y="4048621"/>
            <a:ext cx="4736089"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Tích hợp cảm biến lực (force sensor) vào mô hình và xây dựng vòng điều khiển kín (closed-loop), cho phép điều chỉnh hành trình cáp theo phản hồi lực kẹp thực tế.</a:t>
            </a:r>
            <a:endParaRPr lang="en-US" sz="1000" dirty="0"/>
          </a:p>
        </p:txBody>
      </p:sp>
      <p:sp>
        <p:nvSpPr>
          <p:cNvPr id="31" name="Shape 27"/>
          <p:cNvSpPr/>
          <p:nvPr/>
        </p:nvSpPr>
        <p:spPr>
          <a:xfrm>
            <a:off x="6895828" y="4990405"/>
            <a:ext cx="4603635" cy="132259"/>
          </a:xfrm>
          <a:prstGeom prst="roundRect">
            <a:avLst>
              <a:gd name="adj" fmla="val 42017"/>
            </a:avLst>
          </a:prstGeom>
          <a:solidFill>
            <a:srgbClr val="FCEC99"/>
          </a:solidFill>
          <a:ln w="6350">
            <a:solidFill>
              <a:srgbClr val="E2D27F"/>
            </a:solidFill>
            <a:prstDash val="solid"/>
          </a:ln>
        </p:spPr>
      </p:sp>
      <p:sp>
        <p:nvSpPr>
          <p:cNvPr id="32" name="Shape 28"/>
          <p:cNvSpPr/>
          <p:nvPr/>
        </p:nvSpPr>
        <p:spPr>
          <a:xfrm>
            <a:off x="6697396" y="4858147"/>
            <a:ext cx="396865" cy="396875"/>
          </a:xfrm>
          <a:prstGeom prst="ellipse">
            <a:avLst/>
          </a:prstGeom>
          <a:solidFill>
            <a:srgbClr val="FCEC99"/>
          </a:solidFill>
          <a:ln w="6350">
            <a:solidFill>
              <a:srgbClr val="E2D27F"/>
            </a:solidFill>
            <a:prstDash val="solid"/>
          </a:ln>
        </p:spPr>
      </p:sp>
      <p:pic>
        <p:nvPicPr>
          <p:cNvPr id="3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96612" y="4957366"/>
            <a:ext cx="198433" cy="198438"/>
          </a:xfrm>
          <a:prstGeom prst="rect">
            <a:avLst/>
          </a:prstGeom>
        </p:spPr>
      </p:pic>
      <p:sp>
        <p:nvSpPr>
          <p:cNvPr id="34" name="Text 29"/>
          <p:cNvSpPr/>
          <p:nvPr/>
        </p:nvSpPr>
        <p:spPr>
          <a:xfrm>
            <a:off x="6829651" y="5360789"/>
            <a:ext cx="4537656" cy="206673"/>
          </a:xfrm>
          <a:prstGeom prst="rect">
            <a:avLst/>
          </a:prstGeom>
          <a:noFill/>
          <a:ln/>
        </p:spPr>
        <p:txBody>
          <a:bodyPr wrap="none" lIns="0" tIns="0" rIns="0" bIns="0" rtlCol="0" anchor="t"/>
          <a:lstStyle/>
          <a:p>
            <a:pPr algn="l" indent="0" marL="0">
              <a:lnSpc>
                <a:spcPct val="104000"/>
              </a:lnSpc>
              <a:buNone/>
            </a:pPr>
            <a:r>
              <a:rPr lang="en-US" sz="1300" dirty="0">
                <a:solidFill>
                  <a:srgbClr val="272525"/>
                </a:solidFill>
                <a:latin typeface="Inter" pitchFamily="34" charset="0"/>
                <a:ea typeface="Inter" pitchFamily="34" charset="-122"/>
                <a:cs typeface="Inter" pitchFamily="34" charset="-120"/>
              </a:rPr>
              <a:t>Hệ nhiều ngón &amp; va chạm</a:t>
            </a:r>
            <a:endParaRPr lang="en-US" sz="1300" dirty="0"/>
          </a:p>
        </p:txBody>
      </p:sp>
      <p:sp>
        <p:nvSpPr>
          <p:cNvPr id="35" name="Text 30"/>
          <p:cNvSpPr/>
          <p:nvPr/>
        </p:nvSpPr>
        <p:spPr>
          <a:xfrm>
            <a:off x="6829651" y="5673229"/>
            <a:ext cx="4537656"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272525"/>
                </a:solidFill>
                <a:latin typeface="Inter" pitchFamily="34" charset="0"/>
                <a:ea typeface="Inter" pitchFamily="34" charset="-122"/>
                <a:cs typeface="Inter" pitchFamily="34" charset="-120"/>
              </a:rPr>
              <a:t>Mở rộng sang hệ gripper nhiều ngón với Contact Detection đầy đủ, cho phép nghiên cứu chiến lược kẹp vật thể phức tạp trong không gian 3D.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2026-08-13T15:12:37Z</dcterms:created>
  <dcterms:modified xsi:type="dcterms:W3CDTF">2026-08-13T15:12:37Z</dcterms:modified>
</cp:coreProperties>
</file>